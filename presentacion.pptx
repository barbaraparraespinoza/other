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C5A57"/>
              </a:solidFill>
              <a:ln w="25400" cap="flat">
                <a:solidFill>
                  <a:srgbClr val="12100E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5B9BFF"/>
              </a:solidFill>
              <a:ln w="25400" cap="flat">
                <a:solidFill>
                  <a:srgbClr val="12100E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4CAF50"/>
              </a:solidFill>
              <a:ln w="25400" cap="flat">
                <a:solidFill>
                  <a:srgbClr val="12100E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&quot; h&quot;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 h&quot;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 h&quot;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 h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Noches y ausencias</c:v>
                </c:pt>
                <c:pt idx="1">
                  <c:v>Trabajo activo</c:v>
                </c:pt>
                <c:pt idx="2">
                  <c:v>Renders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26</c:v>
                </c:pt>
                <c:pt idx="1">
                  <c:v>9</c:v>
                </c:pt>
                <c:pt idx="2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D9D4C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Proyecto: un estudio de televisión deportiva modelado, iluminado y renderizado en Blender, controlado desde Claude mediante el MCP de Blender.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del set: mesa de presentadores, muro LED con gráficas de fútbol, iluminación y cámaras.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Sala de control con muro de pantallas y redacción abierta con puestos de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Plató, mesa, truss de luces, cicloramas, sala de control, zona de descanso, redacción, sala de servidores, cartel ON AIR, pantalla táctica y otra sala de descanso.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h de noches y ausencias + 9 h de trabajo activo + 14–15 h de renders = 50 h de reloj.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tal como se reportaron. El importe de uso extra es de la cuenta y no se puede atribuir a este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335 M de 339 M contados (1,3 + 2,7 + 335) son lecturas de caché, ≈ 99 %.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las tres conclusiones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image" Target="../media/image-4-6.jpg"/><Relationship Id="rId7" Type="http://schemas.openxmlformats.org/officeDocument/2006/relationships/image" Target="../media/image-4-7.jpg"/><Relationship Id="rId8" Type="http://schemas.openxmlformats.org/officeDocument/2006/relationships/image" Target="../media/image-4-8.jpg"/><Relationship Id="rId9" Type="http://schemas.openxmlformats.org/officeDocument/2006/relationships/image" Target="../media/image-4-9.jpg"/><Relationship Id="rId10" Type="http://schemas.openxmlformats.org/officeDocument/2006/relationships/image" Target="../media/image-4-10.jpg"/><Relationship Id="rId11" Type="http://schemas.openxmlformats.org/officeDocument/2006/relationships/image" Target="../media/image-4-11.jpg"/><Relationship Id="rId12" Type="http://schemas.openxmlformats.org/officeDocument/2006/relationships/image" Target="../media/image-4-12.jp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other/d8041478-dfcc-5ca6-9236-09cb61fbd919/scratchpad/img/bg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960120"/>
            <a:ext cx="1188720" cy="329184"/>
          </a:xfrm>
          <a:prstGeom prst="roundRect">
            <a:avLst>
              <a:gd name="adj" fmla="val 22222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9601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AIR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Estudio de TV deportiva en 3D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set de televisión completo, construido con Claude a través del MCP de Blender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– 30 de septiembre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other/d8041478-dfcc-5ca6-9236-09cb61fbd919/scratchpad/img/crop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0"/>
            <a:ext cx="512064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plató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3" y="1382573"/>
            <a:ext cx="252374" cy="252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216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curva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1188720" y="1527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puestos de presentador, con botellas, vasos y papeles.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57200" y="2121408"/>
            <a:ext cx="548640" cy="54864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33" y="2269541"/>
            <a:ext cx="252374" cy="25237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2103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Muro LED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188720" y="24140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 de campo de fútbol, también integradas en la mesa.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457200" y="3008376"/>
            <a:ext cx="548640" cy="548640"/>
          </a:xfrm>
          <a:prstGeom prst="ellipse">
            <a:avLst/>
          </a:prstGeom>
          <a:solidFill>
            <a:srgbClr val="E0A84A"/>
          </a:solidFill>
          <a:ln w="12700">
            <a:solidFill>
              <a:srgbClr val="E0A84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3" y="3156509"/>
            <a:ext cx="252374" cy="25237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88720" y="29900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Iluminación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88720" y="33009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Anillo de luz LED sobre truss y paneles de luz.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95344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33" y="4043477"/>
            <a:ext cx="252374" cy="25237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188720" y="38770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Cámaras y fondo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188720" y="41879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Cámaras de estudio frente a un fondo blanco curvo.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Detrás de cámaras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áreas de producción que rodean al plató</a:t>
            </a:r>
            <a:endParaRPr lang="en-US" sz="1600" dirty="0"/>
          </a:p>
        </p:txBody>
      </p:sp>
      <p:pic>
        <p:nvPicPr>
          <p:cNvPr id="4" name="Image 0" descr="/tmp/claude-0/-home-user-other/d8041478-dfcc-5ca6-9236-09cb61fbd919/scratchpad/img/p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4023360" cy="2263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 de control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2245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Muro de pantallas con la señal del partido y consolas de trabajo.</a:t>
            </a:r>
            <a:endParaRPr lang="en-US" sz="1300" dirty="0"/>
          </a:p>
        </p:txBody>
      </p:sp>
      <p:pic>
        <p:nvPicPr>
          <p:cNvPr id="7" name="Image 1" descr="/tmp/claude-0/-home-user-other/d8041478-dfcc-5ca6-9236-09cb61fbd919/scratchpad/img/p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4023360" cy="22631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663440" y="3886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Redacción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42245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de puestos con doble monitor, bajo paneles de luz.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planos del set</a:t>
            </a:r>
            <a:endParaRPr lang="en-US" sz="3400" dirty="0"/>
          </a:p>
        </p:txBody>
      </p:sp>
      <p:pic>
        <p:nvPicPr>
          <p:cNvPr id="3" name="Image 0" descr="/tmp/claude-0/-home-user-other/d8041478-dfcc-5ca6-9236-09cb61fbd919/scratchpad/img/t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965960" cy="1105510"/>
          </a:xfrm>
          <a:prstGeom prst="rect">
            <a:avLst/>
          </a:prstGeom>
        </p:spPr>
      </p:pic>
      <p:pic>
        <p:nvPicPr>
          <p:cNvPr id="4" name="Image 1" descr="/tmp/claude-0/-home-user-other/d8041478-dfcc-5ca6-9236-09cb61fbd919/scratchpad/img/t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188720"/>
            <a:ext cx="1965960" cy="1105510"/>
          </a:xfrm>
          <a:prstGeom prst="rect">
            <a:avLst/>
          </a:prstGeom>
        </p:spPr>
      </p:pic>
      <p:pic>
        <p:nvPicPr>
          <p:cNvPr id="5" name="Image 2" descr="/tmp/claude-0/-home-user-other/d8041478-dfcc-5ca6-9236-09cb61fbd919/scratchpad/img/t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1965960" cy="1105510"/>
          </a:xfrm>
          <a:prstGeom prst="rect">
            <a:avLst/>
          </a:prstGeom>
        </p:spPr>
      </p:pic>
      <p:pic>
        <p:nvPicPr>
          <p:cNvPr id="6" name="Image 3" descr="/tmp/claude-0/-home-user-other/d8041478-dfcc-5ca6-9236-09cb61fbd919/scratchpad/img/t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188720"/>
            <a:ext cx="1965960" cy="1105510"/>
          </a:xfrm>
          <a:prstGeom prst="rect">
            <a:avLst/>
          </a:prstGeom>
        </p:spPr>
      </p:pic>
      <p:pic>
        <p:nvPicPr>
          <p:cNvPr id="7" name="Image 4" descr="/tmp/claude-0/-home-user-other/d8041478-dfcc-5ca6-9236-09cb61fbd919/scratchpad/img/t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86584"/>
            <a:ext cx="1965960" cy="1105510"/>
          </a:xfrm>
          <a:prstGeom prst="rect">
            <a:avLst/>
          </a:prstGeom>
        </p:spPr>
      </p:pic>
      <p:pic>
        <p:nvPicPr>
          <p:cNvPr id="8" name="Image 5" descr="/tmp/claude-0/-home-user-other/d8041478-dfcc-5ca6-9236-09cb61fbd919/scratchpad/img/t6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600" y="2386584"/>
            <a:ext cx="1965960" cy="1105510"/>
          </a:xfrm>
          <a:prstGeom prst="rect">
            <a:avLst/>
          </a:prstGeom>
        </p:spPr>
      </p:pic>
      <p:pic>
        <p:nvPicPr>
          <p:cNvPr id="9" name="Image 6" descr="/tmp/claude-0/-home-user-other/d8041478-dfcc-5ca6-9236-09cb61fbd919/scratchpad/img/t7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2386584"/>
            <a:ext cx="1965960" cy="1105510"/>
          </a:xfrm>
          <a:prstGeom prst="rect">
            <a:avLst/>
          </a:prstGeom>
        </p:spPr>
      </p:pic>
      <p:pic>
        <p:nvPicPr>
          <p:cNvPr id="10" name="Image 7" descr="/tmp/claude-0/-home-user-other/d8041478-dfcc-5ca6-9236-09cb61fbd919/scratchpad/img/t8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2386584"/>
            <a:ext cx="1965960" cy="1105510"/>
          </a:xfrm>
          <a:prstGeom prst="rect">
            <a:avLst/>
          </a:prstGeom>
        </p:spPr>
      </p:pic>
      <p:pic>
        <p:nvPicPr>
          <p:cNvPr id="11" name="Image 8" descr="/tmp/claude-0/-home-user-other/d8041478-dfcc-5ca6-9236-09cb61fbd919/scratchpad/img/t9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3584448"/>
            <a:ext cx="1965960" cy="1105510"/>
          </a:xfrm>
          <a:prstGeom prst="rect">
            <a:avLst/>
          </a:prstGeom>
        </p:spPr>
      </p:pic>
      <p:pic>
        <p:nvPicPr>
          <p:cNvPr id="12" name="Image 9" descr="/tmp/claude-0/-home-user-other/d8041478-dfcc-5ca6-9236-09cb61fbd919/scratchpad/img/t10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14600" y="3584448"/>
            <a:ext cx="1965960" cy="1105510"/>
          </a:xfrm>
          <a:prstGeom prst="rect">
            <a:avLst/>
          </a:prstGeom>
        </p:spPr>
      </p:pic>
      <p:pic>
        <p:nvPicPr>
          <p:cNvPr id="13" name="Image 10" descr="/tmp/claude-0/-home-user-other/d8041478-dfcc-5ca6-9236-09cb61fbd919/scratchpad/img/t11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3584448"/>
            <a:ext cx="1965960" cy="1105510"/>
          </a:xfrm>
          <a:prstGeom prst="rect">
            <a:avLst/>
          </a:prstGeom>
        </p:spPr>
      </p:pic>
      <p:pic>
        <p:nvPicPr>
          <p:cNvPr id="14" name="Image 11" descr="/tmp/claude-0/-home-user-other/d8041478-dfcc-5ca6-9236-09cb61fbd919/scratchpad/img/t12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9400" y="3584448"/>
            <a:ext cx="1965960" cy="11055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Tiempo invertido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 de reloj, pero solo ≈ 24 h de actividad y renders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417320"/>
          <a:ext cx="42062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754880" y="1463040"/>
            <a:ext cx="3931920" cy="713232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892040" y="159105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1714500"/>
            <a:ext cx="210312" cy="21031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40680" y="1463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h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086600" y="146304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Reloj total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28/09 16:16 → 30/09 18:26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754880" y="2286000"/>
            <a:ext cx="3931920" cy="713232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892040" y="2414016"/>
            <a:ext cx="457200" cy="45720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484" y="2537460"/>
            <a:ext cx="210312" cy="21031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40680" y="228600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 h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7086600" y="228600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activo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Claude, sin renders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54880" y="3108960"/>
            <a:ext cx="3931920" cy="713232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92040" y="3236976"/>
            <a:ext cx="457200" cy="45720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484" y="3360420"/>
            <a:ext cx="210312" cy="21031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440680" y="310896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14–15 h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7086600" y="31089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 de la máquina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754880" y="3931920"/>
            <a:ext cx="3931920" cy="713232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92040" y="4059936"/>
            <a:ext cx="457200" cy="457200"/>
          </a:xfrm>
          <a:prstGeom prst="ellipse">
            <a:avLst/>
          </a:prstGeom>
          <a:solidFill>
            <a:srgbClr val="E0A84A"/>
          </a:solidFill>
          <a:ln w="12700">
            <a:solidFill>
              <a:srgbClr val="E0A84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5484" y="4183380"/>
            <a:ext cx="210312" cy="2103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40680" y="393192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24 h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7086600" y="39319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+ renders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 − 26 h sin actividad</a:t>
            </a:r>
            <a:endParaRPr lang="en-US" sz="1100" dirty="0"/>
          </a:p>
        </p:txBody>
      </p:sp>
      <p:sp>
        <p:nvSpPr>
          <p:cNvPr id="25" name="Text 18"/>
          <p:cNvSpPr txBox="1"/>
          <p:nvPr/>
        </p:nvSpPr>
        <p:spPr>
          <a:xfrm>
            <a:off x="457200" y="4526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gráfico usa 15 h para los renders (rango medido: 14–15 h).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Límites de uso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de la cuenta durante el proyecto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560320" cy="30175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5 HORAS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pPr indent="0" marL="0">
              <a:buNone/>
            </a:pPr>
            <a:r>
              <a:rPr lang="en-US" sz="1400" dirty="0">
                <a:solidFill>
                  <a:srgbClr val="A39B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usado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85800" y="2834640"/>
            <a:ext cx="2103120" cy="128016"/>
          </a:xfrm>
          <a:prstGeom prst="rect">
            <a:avLst/>
          </a:prstGeom>
          <a:solidFill>
            <a:srgbClr val="3A362F"/>
          </a:solidFill>
          <a:ln w="12700">
            <a:solidFill>
              <a:srgbClr val="3A36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834640"/>
            <a:ext cx="210312" cy="128016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1089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reinicia en 1 h 43 min.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se alcanzó una vez.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1508760"/>
            <a:ext cx="2560320" cy="30175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SEMANAL · TODOS LOS MODELOS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40 %</a:t>
            </a:r>
            <a:pPr indent="0" marL="0">
              <a:buNone/>
            </a:pPr>
            <a:r>
              <a:rPr lang="en-US" sz="1400" dirty="0">
                <a:solidFill>
                  <a:srgbClr val="A39B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usado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3520440" y="2834640"/>
            <a:ext cx="2103120" cy="128016"/>
          </a:xfrm>
          <a:prstGeom prst="rect">
            <a:avLst/>
          </a:prstGeom>
          <a:solidFill>
            <a:srgbClr val="3A362F"/>
          </a:solidFill>
          <a:ln w="12700">
            <a:solidFill>
              <a:srgbClr val="3A36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0440" y="2834640"/>
            <a:ext cx="841248" cy="12801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20440" y="31089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reinicia el 03/10.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aislar la parte de este proyecto; como empezó el 28/09, probablemente es la mayor parte.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508760"/>
            <a:ext cx="2560320" cy="30175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5508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EXTRA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Desactivado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43,47 USD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32004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contador de la cuenta, con límite mensual de 10 USD.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dato de la cuenta; no se sabe a qué sesión corresponde.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Tokens de la sesión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Contados desde la transcripción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108960" cy="14173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37360"/>
            <a:ext cx="502920" cy="50292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" y="1873148"/>
            <a:ext cx="231343" cy="2313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286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1,3 M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7830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generados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3108960"/>
            <a:ext cx="3108960" cy="14173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3337560"/>
            <a:ext cx="502920" cy="50292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88" y="347334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2,7 M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escritos a la caché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794760" y="1508760"/>
            <a:ext cx="4892040" cy="3017520"/>
          </a:xfrm>
          <a:prstGeom prst="rect">
            <a:avLst/>
          </a:prstGeom>
          <a:solidFill>
            <a:srgbClr val="16263F"/>
          </a:solidFill>
          <a:ln w="12700">
            <a:solidFill>
              <a:srgbClr val="16263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114800" y="1783080"/>
            <a:ext cx="640080" cy="64008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622" y="1955902"/>
            <a:ext cx="294437" cy="29443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114800" y="26060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335 M</a:t>
            </a:r>
            <a:endParaRPr lang="en-US" sz="6000" dirty="0"/>
          </a:p>
        </p:txBody>
      </p:sp>
      <p:sp>
        <p:nvSpPr>
          <p:cNvPr id="18" name="Text 13"/>
          <p:cNvSpPr txBox="1"/>
          <p:nvPr/>
        </p:nvSpPr>
        <p:spPr>
          <a:xfrm>
            <a:off x="4114800" y="35204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leídos de la caché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4114800" y="38862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≈ 99 % de los tokens contados y se cobran mucho más barato.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other/d8041478-dfcc-5ca6-9236-09cb61fbd919/scratchpad/img/bg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resumen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594360" cy="59436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" y="1714957"/>
            <a:ext cx="273406" cy="2734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371600" y="1508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completo en ≈ 9 h activas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1371600" y="1874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Plató, sala de control, redacción, servidores y zonas de descanso.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2606040"/>
            <a:ext cx="594360" cy="59436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117" y="2766517"/>
            <a:ext cx="273406" cy="27340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2560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renders pesaron más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1371600" y="29260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14–15 h de render, frente a ≈ 9 h de trabajo activo, dentro de 50 h de reloj.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548640" y="3657600"/>
            <a:ext cx="594360" cy="594360"/>
          </a:xfrm>
          <a:prstGeom prst="ellipse">
            <a:avLst/>
          </a:prstGeom>
          <a:solidFill>
            <a:srgbClr val="E0A84A"/>
          </a:solidFill>
          <a:ln w="12700">
            <a:solidFill>
              <a:srgbClr val="E0A84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17" y="3818077"/>
            <a:ext cx="273406" cy="27340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36118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caché domina el consumo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1371600" y="39776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335 M de tokens leídos de caché, que se cobran mucho más barato.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TV deportiva en Blender</dc:title>
  <dc:subject>PptxGenJS Presentation</dc:subject>
  <dc:creator>PptxGenJS</dc:creator>
  <cp:lastModifiedBy>PptxGenJS</cp:lastModifiedBy>
  <cp:revision>1</cp:revision>
  <dcterms:created xsi:type="dcterms:W3CDTF">2026-09-30T21:52:58Z</dcterms:created>
  <dcterms:modified xsi:type="dcterms:W3CDTF">2026-09-30T21:52:58Z</dcterms:modified>
</cp:coreProperties>
</file>