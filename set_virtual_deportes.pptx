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06e5df5e-4f77-1251-5f4f-a196f905b40e}">
          <p14:sldIdLst>
            <p14:sldId id="256"/>
            <p14:sldId id="257"/>
          </p14:sldIdLst>
        </p14:section>
        <p14:section name="El proyecto" id="{e7406e6f-dffd-82e9-534c-e368a43cce2c}">
          <p14:sldIdLst>
            <p14:sldId id="258"/>
            <p14:sldId id="259"/>
            <p14:sldId id="260"/>
          </p14:sldIdLst>
        </p14:section>
        <p14:section name="Optimización" id="{a048b2ff-d67b-5ae6-4a72-565b36447015}">
          <p14:sldIdLst>
            <p14:sldId id="261"/>
            <p14:sldId id="262"/>
          </p14:sldIdLst>
        </p14:section>
        <p14:section name="Galería" id="{e998ca8e-e641-fa75-b4e4-db414671a393}">
          <p14:sldIdLst>
            <p14:sldId id="263"/>
            <p14:sldId id="264"/>
          </p14:sldIdLst>
        </p14:section>
        <p14:section name="Resultados" id="{a64f8f85-98b6-5f05-fd69-2da93fc9b79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Trabajo</c:v>
                </c:pt>
              </c:strCache>
            </c:strRef>
          </c:tx>
          <c:spPr>
            <a:solidFill>
              <a:srgbClr val="A323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D1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Total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</c:v>
                </c:pt>
              </c:strCache>
            </c:strRef>
          </c:tx>
          <c:spPr>
            <a:solidFill>
              <a:srgbClr val="5B4B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D1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Total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D1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25C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5C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Minutos</c:v>
                </c:pt>
              </c:strCache>
            </c:strRef>
          </c:tx>
          <c:spPr>
            <a:solidFill>
              <a:srgbClr val="5B4BD6"/>
            </a:solidFill>
            <a:effectLst/>
          </c:spPr>
          <c:invertIfNegative val="0"/>
          <c:dLbls>
            <c:numFmt formatCode="0&quot; min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D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Stills finales 4K (3 tandas de 6)</c:v>
                  </c:pt>
                  <c:pt idx="1">
                    <c:v>Vídeo aéreo, 45 s en 1080p</c:v>
                  </c:pt>
                  <c:pt idx="2">
                    <c:v>Control, pruebas y calibración de luz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</c:v>
                </c:pt>
                <c:pt idx="1">
                  <c:v>153</c:v>
                </c:pt>
                <c:pt idx="2">
                  <c:v>53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D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25C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5C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3238F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DDE9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Usado</c:v>
                </c:pt>
                <c:pt idx="1">
                  <c:v>Resto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2.38</c:v>
                </c:pt>
                <c:pt idx="1">
                  <c:v>12.620000000000001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Millones de triángulos</c:v>
                </c:pt>
              </c:strCache>
            </c:strRef>
          </c:tx>
          <c:spPr>
            <a:solidFill>
              <a:srgbClr val="A3238F"/>
            </a:solidFill>
            <a:effectLst/>
          </c:spPr>
          <c:invertIfNegative val="0"/>
          <c:dLbls>
            <c:numFmt formatCode="0.00&quot; M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D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Principal</c:v>
                  </c:pt>
                  <c:pt idx="1">
                    <c:v>Secundaria</c:v>
                  </c:pt>
                  <c:pt idx="2">
                    <c:v>Fondo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1.27</c:v>
                </c:pt>
                <c:pt idx="1">
                  <c:v>1.08</c:v>
                </c:pt>
                <c:pt idx="2">
                  <c:v>0.03</c:v>
                </c:pt>
              </c:numCache>
            </c:numRef>
          </c:val>
        </c:ser>
        <c:dLbls>
          <c:numFmt formatCode="0.00&quot; M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D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25C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5C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Repetidos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3238F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DDE9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Usado</c:v>
                </c:pt>
                <c:pt idx="1">
                  <c:v>Resto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279</c:v>
                </c:pt>
                <c:pt idx="1">
                  <c:v>178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virtual DEPORTES: un plató de televisión deportiva fotorrealista hecho en Blender 5.2. Todo se construyó por scripts a partir de una sola imagen de referencia 360°. Se puede recorrer en tiempo real y se renderizó en 4K. La imagen de fondo es la cámara principal, CAM_01, renderizada en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clave: unas 24 horas de trabajo repartidas en 4 jornadas, de las que unas 7 son de GPU renderizando. Coste extra cero, porque entra en el plan Pro. La escena tiene 2,38 millones de triángulos, el 16 % del presupuesto. El archivo final pesa 157 MB y es autocontenido, y se navega a 60 fps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pedía el encargo. Objetivo: un plató fotorrealista fiel a la referencia, recorrible en tiempo real y con calidad de emisión. Método: todo por scripts reproducibles, en 10 fases, cada una cerrada con un control de calidad automático. Reglas: marca genérica, solo recursos libres o sin royalties, toda luz sale de un aparato real y la exposición se calibra con una carta de gris. Y la prueba final: que alguien sin contexto vea la imagen y diga «es una foto».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se hizo en cuatro jornadas: el 1 y 2 de octubre la construcción, el 5 la luz, las cámaras y la primera entrega. La primera prueba final dijo «parece un render»; por eso se rehicieron las pantallas como LED 16:9 y la luz de plató, y se añadió bruma. Después vino una revisión sobre una captura anotada: barra de luces, vitrinas de vidrio, mesa y marco de la pantalla. El 6 de octubre se renderizó en Cycles el vídeo del recorrido aéreo.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Unas 24 horas en total: cerca de 17 de trabajo (modelado, scripts, control de calidad y revisiones) y unas 7 de GPU renderizando en la RTX 5090. Lo que más tiempo de render se llevó fueron las tres tandas de seis stills en 4K, 219 minutos; el vídeo del recorrido aéreo, 153; y los vídeos de control y pruebas, unos 53. Las horas de trabajo son una estimación a partir de los registros; los tiempos de render son medidos.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el modelo está optimizado, empezando por la geometría. Usa 2,38 millones de triángulos, el 16 % de un presupuesto de 15 millones medido en el equipo. El detalle se concentra donde mira la cámara: 1,27 millones en la zona principal, 1,08 en la secundaria y apenas 0,03 en el fondo. Y el 61 % de los objetos, 279 de 457, son copias que comparten malla y no ocupan memoria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resto de indicadores. Texturas: 12 en 4K y 13 en 2K; el 4K se reserva para lo que sale en primer plano, como el canto del tablero de la imagen. 67 materiales sin duplicados. Un archivo de 157 MB que lleva dentro texturas y perfiles de luz, así que se abre en cualquier equipo. 60 fps con las 101 luces activas, el doble del mínimo. Y la auditoría automática, en verde: cero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panorámica 360° es una de las seis imágenes finales y muestra el plató entero de una vez. En el centro, la mesa principal sobre su tarima, bajo el halo con anillos de luz. A la izquierda, la zona de entrevistas con el sofá; a la derecha, el mueble de madera con vitrinas, la pantalla del estadio y la escalera con el mosaico 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ángulos más del plató. A la izquierda, la zona de entrevistas: el sofá sobre su tarima de mármol, la escalera con barandilla de vidrio y el mosaico LED, con la mesa principal a la derecha. A la derecha, el punto de vista desde la mesa de presentadores, mirando hacia la pantalla del estadio, la escalera y el sofá.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se entrega: la escena de Blender empaquetada, con un espacio de trabajo listo para recorrerla; seis imágenes finales, cinco en 4K y una panorámica 360°, en formato de edición y PNG; el vídeo de 45 segundos del recorrido aéreo y tres animaciones de cámara más, listas para renderizar; y la documentación: guía de uso, créditos y licencias, e informe de calidad por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siguientes pasos. Primero, repetir la prueba final con las imágenes nuevas y con personas que no conozcan el proyecto. Segundo, liberar espacio: los fotogramas sueltos del vídeo ocupan 16 GB y se pueden borrar si basta con el MP4, y quitar la imagen de referencia del archivo ahorra otros 20 a 30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600200"/>
            <a:ext cx="58521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011680"/>
            <a:ext cx="60350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Set virtual «DEPORTES» · Informe ejecutivo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Set virtual «DEPORTES» · Informe ejecutivo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AM_01" descr="Plató DEPORTES desde la cámara principal: mesa de presentadores con tres sillas blancas, pantalla LED con el logo y vitrinas ilumin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Degradado de lectura" descr="Degradado oscur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INFORME EJECUTIVO · BLENDER 5.2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2011680"/>
            <a:ext cx="603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Set virtual «DEPORTES»</a:t>
            </a:r>
            <a:endParaRPr lang="en-US" sz="56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3977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 plató de televisión deportiva fotorrealista, construido íntegramente por scripts a partir de una sola imagen de referencia 360°, navegable en tiempo real y renderizado en 4K.</a:t>
            </a:r>
            <a:endParaRPr lang="en-US" sz="1800" dirty="0"/>
          </a:p>
        </p:txBody>
      </p:sp>
      <p:sp>
        <p:nvSpPr>
          <p:cNvPr id="7" name="Pie de foto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Cámara principal (CAM_01), still final en 4K renderizado en Cycles · octubre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 proyecto en cifras</a:t>
            </a:r>
            <a:endParaRPr lang="en-US" sz="3600" dirty="0"/>
          </a:p>
        </p:txBody>
      </p:sp>
      <p:sp>
        <p:nvSpPr>
          <p:cNvPr id="3" name="Tarjeta ~24 h"/>
          <p:cNvSpPr/>
          <p:nvPr/>
        </p:nvSpPr>
        <p:spPr>
          <a:xfrm>
            <a:off x="548640" y="14630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Círculo FaClock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o FaClock" descr="Icono de reloj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924812"/>
            <a:ext cx="283464" cy="283464"/>
          </a:xfrm>
          <a:prstGeom prst="rect">
            <a:avLst/>
          </a:prstGeom>
        </p:spPr>
      </p:pic>
      <p:sp>
        <p:nvSpPr>
          <p:cNvPr id="6" name="Cifra ~24 h"/>
          <p:cNvSpPr txBox="1"/>
          <p:nvPr/>
        </p:nvSpPr>
        <p:spPr>
          <a:xfrm>
            <a:off x="868680" y="24231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~24 h</a:t>
            </a:r>
            <a:endParaRPr lang="en-US" sz="4400" dirty="0"/>
          </a:p>
        </p:txBody>
      </p:sp>
      <p:sp>
        <p:nvSpPr>
          <p:cNvPr id="7" name="Etiqueta ~24 h"/>
          <p:cNvSpPr txBox="1"/>
          <p:nvPr/>
        </p:nvSpPr>
        <p:spPr>
          <a:xfrm>
            <a:off x="868680" y="30906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 trabajo en 4 jornadas</a:t>
            </a:r>
            <a:endParaRPr lang="en-US" sz="1600" dirty="0"/>
          </a:p>
        </p:txBody>
      </p:sp>
      <p:sp>
        <p:nvSpPr>
          <p:cNvPr id="8" name="Tarjeta ~7 h"/>
          <p:cNvSpPr/>
          <p:nvPr/>
        </p:nvSpPr>
        <p:spPr>
          <a:xfrm>
            <a:off x="4338218" y="14630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Círculo FaMicrochip"/>
          <p:cNvSpPr/>
          <p:nvPr/>
        </p:nvSpPr>
        <p:spPr>
          <a:xfrm>
            <a:off x="4658258" y="17830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o FaMicrochip" descr="Icono de c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990" y="1924812"/>
            <a:ext cx="283464" cy="283464"/>
          </a:xfrm>
          <a:prstGeom prst="rect">
            <a:avLst/>
          </a:prstGeom>
        </p:spPr>
      </p:pic>
      <p:sp>
        <p:nvSpPr>
          <p:cNvPr id="11" name="Cifra ~7 h"/>
          <p:cNvSpPr txBox="1"/>
          <p:nvPr/>
        </p:nvSpPr>
        <p:spPr>
          <a:xfrm>
            <a:off x="4658258" y="24231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~7 h</a:t>
            </a:r>
            <a:endParaRPr lang="en-US" sz="4400" dirty="0"/>
          </a:p>
        </p:txBody>
      </p:sp>
      <p:sp>
        <p:nvSpPr>
          <p:cNvPr id="12" name="Etiqueta ~7 h"/>
          <p:cNvSpPr txBox="1"/>
          <p:nvPr/>
        </p:nvSpPr>
        <p:spPr>
          <a:xfrm>
            <a:off x="4658258" y="30906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 GPU en renders</a:t>
            </a:r>
            <a:endParaRPr lang="en-US" sz="1600" dirty="0"/>
          </a:p>
        </p:txBody>
      </p:sp>
      <p:sp>
        <p:nvSpPr>
          <p:cNvPr id="13" name="Tarjeta 0 USD"/>
          <p:cNvSpPr/>
          <p:nvPr/>
        </p:nvSpPr>
        <p:spPr>
          <a:xfrm>
            <a:off x="8127797" y="146304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írculo FaCoins"/>
          <p:cNvSpPr/>
          <p:nvPr/>
        </p:nvSpPr>
        <p:spPr>
          <a:xfrm>
            <a:off x="8447837" y="17830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o FaCoins" descr="Icono de moned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569" y="1924812"/>
            <a:ext cx="283464" cy="283464"/>
          </a:xfrm>
          <a:prstGeom prst="rect">
            <a:avLst/>
          </a:prstGeom>
        </p:spPr>
      </p:pic>
      <p:sp>
        <p:nvSpPr>
          <p:cNvPr id="16" name="Cifra 0 USD"/>
          <p:cNvSpPr txBox="1"/>
          <p:nvPr/>
        </p:nvSpPr>
        <p:spPr>
          <a:xfrm>
            <a:off x="8447837" y="24231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 USD</a:t>
            </a:r>
            <a:endParaRPr lang="en-US" sz="4400" dirty="0"/>
          </a:p>
        </p:txBody>
      </p:sp>
      <p:sp>
        <p:nvSpPr>
          <p:cNvPr id="17" name="Etiqueta 0 USD"/>
          <p:cNvSpPr txBox="1"/>
          <p:nvPr/>
        </p:nvSpPr>
        <p:spPr>
          <a:xfrm>
            <a:off x="8447837" y="309067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 coste extra (plan Pro)</a:t>
            </a:r>
            <a:endParaRPr lang="en-US" sz="1600" dirty="0"/>
          </a:p>
        </p:txBody>
      </p:sp>
      <p:sp>
        <p:nvSpPr>
          <p:cNvPr id="18" name="Tarjeta 2,38 M"/>
          <p:cNvSpPr/>
          <p:nvPr/>
        </p:nvSpPr>
        <p:spPr>
          <a:xfrm>
            <a:off x="548640" y="384048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Círculo FaShapes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o FaShapes" descr="Icono de formas geométric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4302252"/>
            <a:ext cx="283464" cy="283464"/>
          </a:xfrm>
          <a:prstGeom prst="rect">
            <a:avLst/>
          </a:prstGeom>
        </p:spPr>
      </p:pic>
      <p:sp>
        <p:nvSpPr>
          <p:cNvPr id="21" name="Cifra 2,38 M"/>
          <p:cNvSpPr txBox="1"/>
          <p:nvPr/>
        </p:nvSpPr>
        <p:spPr>
          <a:xfrm>
            <a:off x="868680" y="48006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2,38 M</a:t>
            </a:r>
            <a:endParaRPr lang="en-US" sz="4400" dirty="0"/>
          </a:p>
        </p:txBody>
      </p:sp>
      <p:sp>
        <p:nvSpPr>
          <p:cNvPr id="22" name="Etiqueta 2,38 M"/>
          <p:cNvSpPr txBox="1"/>
          <p:nvPr/>
        </p:nvSpPr>
        <p:spPr>
          <a:xfrm>
            <a:off x="868680" y="546811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triángulos, 16 % del presupuesto</a:t>
            </a:r>
            <a:endParaRPr lang="en-US" sz="1600" dirty="0"/>
          </a:p>
        </p:txBody>
      </p:sp>
      <p:sp>
        <p:nvSpPr>
          <p:cNvPr id="23" name="Tarjeta 157 MB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Círculo FaFileZipper"/>
          <p:cNvSpPr/>
          <p:nvPr/>
        </p:nvSpPr>
        <p:spPr>
          <a:xfrm>
            <a:off x="4658258" y="416052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cono FaFileZipper" descr="Icono de archivo comprimi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990" y="4302252"/>
            <a:ext cx="283464" cy="283464"/>
          </a:xfrm>
          <a:prstGeom prst="rect">
            <a:avLst/>
          </a:prstGeom>
        </p:spPr>
      </p:pic>
      <p:sp>
        <p:nvSpPr>
          <p:cNvPr id="26" name="Cifra 157 MB"/>
          <p:cNvSpPr txBox="1"/>
          <p:nvPr/>
        </p:nvSpPr>
        <p:spPr>
          <a:xfrm>
            <a:off x="4658258" y="48006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157 MB</a:t>
            </a:r>
            <a:endParaRPr lang="en-US" sz="4400" dirty="0"/>
          </a:p>
        </p:txBody>
      </p:sp>
      <p:sp>
        <p:nvSpPr>
          <p:cNvPr id="27" name="Etiqueta 157 MB"/>
          <p:cNvSpPr txBox="1"/>
          <p:nvPr/>
        </p:nvSpPr>
        <p:spPr>
          <a:xfrm>
            <a:off x="4658258" y="546811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archivo final, autocontenido</a:t>
            </a:r>
            <a:endParaRPr lang="en-US" sz="1600" dirty="0"/>
          </a:p>
        </p:txBody>
      </p:sp>
      <p:sp>
        <p:nvSpPr>
          <p:cNvPr id="28" name="Tarjeta 60 fps"/>
          <p:cNvSpPr/>
          <p:nvPr/>
        </p:nvSpPr>
        <p:spPr>
          <a:xfrm>
            <a:off x="8127797" y="384048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Círculo FaGaugeHigh"/>
          <p:cNvSpPr/>
          <p:nvPr/>
        </p:nvSpPr>
        <p:spPr>
          <a:xfrm>
            <a:off x="8447837" y="416052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Icono FaGaugeHigh" descr="Icono de velocímetr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569" y="4302252"/>
            <a:ext cx="283464" cy="283464"/>
          </a:xfrm>
          <a:prstGeom prst="rect">
            <a:avLst/>
          </a:prstGeom>
        </p:spPr>
      </p:pic>
      <p:sp>
        <p:nvSpPr>
          <p:cNvPr id="31" name="Cifra 60 fps"/>
          <p:cNvSpPr txBox="1"/>
          <p:nvPr/>
        </p:nvSpPr>
        <p:spPr>
          <a:xfrm>
            <a:off x="8447837" y="48006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 fps</a:t>
            </a:r>
            <a:endParaRPr lang="en-US" sz="4400" dirty="0"/>
          </a:p>
        </p:txBody>
      </p:sp>
      <p:sp>
        <p:nvSpPr>
          <p:cNvPr id="32" name="Etiqueta 60 fps"/>
          <p:cNvSpPr txBox="1"/>
          <p:nvPr/>
        </p:nvSpPr>
        <p:spPr>
          <a:xfrm>
            <a:off x="8447837" y="5468112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navegando en tiempo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 encargo: que la imagen pase por una foto</a:t>
            </a:r>
            <a:endParaRPr lang="en-US" sz="3600" dirty="0"/>
          </a:p>
        </p:txBody>
      </p:sp>
      <p:sp>
        <p:nvSpPr>
          <p:cNvPr id="3" name="Tarjeta Objetivo"/>
          <p:cNvSpPr/>
          <p:nvPr/>
        </p:nvSpPr>
        <p:spPr>
          <a:xfrm>
            <a:off x="548640" y="146304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Círculo FaBullseye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o FaBullseye" descr="Icono de di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924812"/>
            <a:ext cx="283464" cy="283464"/>
          </a:xfrm>
          <a:prstGeom prst="rect">
            <a:avLst/>
          </a:prstGeom>
        </p:spPr>
      </p:pic>
      <p:sp>
        <p:nvSpPr>
          <p:cNvPr id="6" name="Título Objetivo"/>
          <p:cNvSpPr txBox="1"/>
          <p:nvPr/>
        </p:nvSpPr>
        <p:spPr>
          <a:xfrm>
            <a:off x="1618488" y="1783080"/>
            <a:ext cx="403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Objetivo</a:t>
            </a:r>
            <a:endParaRPr lang="en-US" sz="2200" dirty="0"/>
          </a:p>
        </p:txBody>
      </p:sp>
      <p:sp>
        <p:nvSpPr>
          <p:cNvPr id="7" name="Texto Objetivo"/>
          <p:cNvSpPr txBox="1"/>
          <p:nvPr/>
        </p:nvSpPr>
        <p:spPr>
          <a:xfrm>
            <a:off x="868680" y="253288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 plató fotorrealista fiel a la referencia, que se pueda recorrer en tiempo real y renderizar con calidad de emisión.</a:t>
            </a:r>
            <a:endParaRPr lang="en-US" sz="1600" dirty="0"/>
          </a:p>
        </p:txBody>
      </p:sp>
      <p:sp>
        <p:nvSpPr>
          <p:cNvPr id="8" name="Tarjeta Método"/>
          <p:cNvSpPr/>
          <p:nvPr/>
        </p:nvSpPr>
        <p:spPr>
          <a:xfrm>
            <a:off x="6233008" y="146304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Círculo FaCode"/>
          <p:cNvSpPr/>
          <p:nvPr/>
        </p:nvSpPr>
        <p:spPr>
          <a:xfrm>
            <a:off x="6553048" y="17830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o FaCode" descr="Icono de códi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1924812"/>
            <a:ext cx="283464" cy="283464"/>
          </a:xfrm>
          <a:prstGeom prst="rect">
            <a:avLst/>
          </a:prstGeom>
        </p:spPr>
      </p:pic>
      <p:sp>
        <p:nvSpPr>
          <p:cNvPr id="11" name="Título Método"/>
          <p:cNvSpPr txBox="1"/>
          <p:nvPr/>
        </p:nvSpPr>
        <p:spPr>
          <a:xfrm>
            <a:off x="7302856" y="1783080"/>
            <a:ext cx="403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Método</a:t>
            </a:r>
            <a:endParaRPr lang="en-US" sz="2200" dirty="0"/>
          </a:p>
        </p:txBody>
      </p:sp>
      <p:sp>
        <p:nvSpPr>
          <p:cNvPr id="12" name="Texto Método"/>
          <p:cNvSpPr txBox="1"/>
          <p:nvPr/>
        </p:nvSpPr>
        <p:spPr>
          <a:xfrm>
            <a:off x="6553048" y="253288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Todo construido por scripts reproducibles, en 10 fases. Cada fase se cierra con un control de calidad automático antes de pasar a la siguiente.</a:t>
            </a:r>
            <a:endParaRPr lang="en-US" sz="1600" dirty="0"/>
          </a:p>
        </p:txBody>
      </p:sp>
      <p:sp>
        <p:nvSpPr>
          <p:cNvPr id="13" name="Tarjeta Reglas"/>
          <p:cNvSpPr/>
          <p:nvPr/>
        </p:nvSpPr>
        <p:spPr>
          <a:xfrm>
            <a:off x="548640" y="384048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írculo FaScaleBalanced"/>
          <p:cNvSpPr/>
          <p:nvPr/>
        </p:nvSpPr>
        <p:spPr>
          <a:xfrm>
            <a:off x="868680" y="416052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o FaScaleBalanced" descr="Icono de balanz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302252"/>
            <a:ext cx="283464" cy="283464"/>
          </a:xfrm>
          <a:prstGeom prst="rect">
            <a:avLst/>
          </a:prstGeom>
        </p:spPr>
      </p:pic>
      <p:sp>
        <p:nvSpPr>
          <p:cNvPr id="16" name="Título Reglas"/>
          <p:cNvSpPr txBox="1"/>
          <p:nvPr/>
        </p:nvSpPr>
        <p:spPr>
          <a:xfrm>
            <a:off x="1618488" y="4160520"/>
            <a:ext cx="403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Reglas</a:t>
            </a:r>
            <a:endParaRPr lang="en-US" sz="2200" dirty="0"/>
          </a:p>
        </p:txBody>
      </p:sp>
      <p:sp>
        <p:nvSpPr>
          <p:cNvPr id="17" name="Texto Reglas"/>
          <p:cNvSpPr txBox="1"/>
          <p:nvPr/>
        </p:nvSpPr>
        <p:spPr>
          <a:xfrm>
            <a:off x="868680" y="491032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Marca genérica, solo recursos con licencia libre o sin royalties, toda luz sale de un aparato real y la exposición se calibra con una carta de gris.</a:t>
            </a:r>
            <a:endParaRPr lang="en-US" sz="1600" dirty="0"/>
          </a:p>
        </p:txBody>
      </p:sp>
      <p:sp>
        <p:nvSpPr>
          <p:cNvPr id="18" name="Tarjeta Prueba final"/>
          <p:cNvSpPr/>
          <p:nvPr/>
        </p:nvSpPr>
        <p:spPr>
          <a:xfrm>
            <a:off x="6233008" y="3840480"/>
            <a:ext cx="5410048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Círculo FaCameraRetro"/>
          <p:cNvSpPr/>
          <p:nvPr/>
        </p:nvSpPr>
        <p:spPr>
          <a:xfrm>
            <a:off x="6553048" y="41605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 FaCameraRetro" descr="Icono de cáma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80" y="4302252"/>
            <a:ext cx="283464" cy="283464"/>
          </a:xfrm>
          <a:prstGeom prst="rect">
            <a:avLst/>
          </a:prstGeom>
        </p:spPr>
      </p:pic>
      <p:sp>
        <p:nvSpPr>
          <p:cNvPr id="21" name="Título Prueba final"/>
          <p:cNvSpPr txBox="1"/>
          <p:nvPr/>
        </p:nvSpPr>
        <p:spPr>
          <a:xfrm>
            <a:off x="7302856" y="4160520"/>
            <a:ext cx="403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Prueba final</a:t>
            </a:r>
            <a:endParaRPr lang="en-US" sz="2200" dirty="0"/>
          </a:p>
        </p:txBody>
      </p:sp>
      <p:sp>
        <p:nvSpPr>
          <p:cNvPr id="22" name="Texto Prueba final"/>
          <p:cNvSpPr txBox="1"/>
          <p:nvPr/>
        </p:nvSpPr>
        <p:spPr>
          <a:xfrm>
            <a:off x="6553048" y="491032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Que alguien sin contexto vea la imagen y diga «es una foto».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avanzó: del 1 al 6 de octubre</a:t>
            </a:r>
            <a:endParaRPr lang="en-US" sz="3600" dirty="0"/>
          </a:p>
        </p:txBody>
      </p:sp>
      <p:sp>
        <p:nvSpPr>
          <p:cNvPr id="3" name="Banda iteraciones"/>
          <p:cNvSpPr/>
          <p:nvPr/>
        </p:nvSpPr>
        <p:spPr>
          <a:xfrm>
            <a:off x="548640" y="3739896"/>
            <a:ext cx="7589520" cy="2203704"/>
          </a:xfrm>
          <a:prstGeom prst="roundRect">
            <a:avLst>
              <a:gd name="adj" fmla="val 3320"/>
            </a:avLst>
          </a:prstGeom>
          <a:solidFill>
            <a:schemeClr val="accent6"/>
          </a:solidFill>
          <a:ln/>
        </p:spPr>
      </p:sp>
      <p:sp>
        <p:nvSpPr>
          <p:cNvPr id="4" name="Etiqueta iteraciones"/>
          <p:cNvSpPr txBox="1"/>
          <p:nvPr/>
        </p:nvSpPr>
        <p:spPr>
          <a:xfrm>
            <a:off x="6537960" y="5577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ITERACIONES</a:t>
            </a:r>
            <a:endParaRPr lang="en-US" sz="1100" dirty="0"/>
          </a:p>
        </p:txBody>
      </p:sp>
      <p:sp>
        <p:nvSpPr>
          <p:cNvPr id="5" name="Línea de tiempo"/>
          <p:cNvSpPr/>
          <p:nvPr/>
        </p:nvSpPr>
        <p:spPr>
          <a:xfrm>
            <a:off x="1984248" y="1836420"/>
            <a:ext cx="0" cy="37338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Fecha 1"/>
          <p:cNvSpPr txBox="1"/>
          <p:nvPr/>
        </p:nvSpPr>
        <p:spPr>
          <a:xfrm>
            <a:off x="685800" y="16535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oct</a:t>
            </a:r>
            <a:endParaRPr lang="en-US" sz="1600" dirty="0"/>
          </a:p>
        </p:txBody>
      </p:sp>
      <p:sp>
        <p:nvSpPr>
          <p:cNvPr id="7" name="Hito 1"/>
          <p:cNvSpPr/>
          <p:nvPr/>
        </p:nvSpPr>
        <p:spPr>
          <a:xfrm>
            <a:off x="1874520" y="1726692"/>
            <a:ext cx="219456" cy="219456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Paso 1"/>
          <p:cNvSpPr txBox="1"/>
          <p:nvPr/>
        </p:nvSpPr>
        <p:spPr>
          <a:xfrm>
            <a:off x="2331720" y="1517904"/>
            <a:ext cx="553212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Análisis de la referencia, preparación del entorno, maqueta de volúmenes, arquitectura y escenografía principal.</a:t>
            </a:r>
            <a:endParaRPr lang="en-US" sz="1500" dirty="0"/>
          </a:p>
        </p:txBody>
      </p:sp>
      <p:sp>
        <p:nvSpPr>
          <p:cNvPr id="9" name="Fecha 2"/>
          <p:cNvSpPr txBox="1"/>
          <p:nvPr/>
        </p:nvSpPr>
        <p:spPr>
          <a:xfrm>
            <a:off x="685800" y="24003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1–2 oct</a:t>
            </a:r>
            <a:endParaRPr lang="en-US" sz="1600" dirty="0"/>
          </a:p>
        </p:txBody>
      </p:sp>
      <p:sp>
        <p:nvSpPr>
          <p:cNvPr id="10" name="Hito 2"/>
          <p:cNvSpPr/>
          <p:nvPr/>
        </p:nvSpPr>
        <p:spPr>
          <a:xfrm>
            <a:off x="1874520" y="2473452"/>
            <a:ext cx="219456" cy="219456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Paso 2"/>
          <p:cNvSpPr txBox="1"/>
          <p:nvPr/>
        </p:nvSpPr>
        <p:spPr>
          <a:xfrm>
            <a:off x="2331720" y="2264664"/>
            <a:ext cx="553212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Muebles y objetos descargados, atrezo modelado y materiales.</a:t>
            </a:r>
            <a:endParaRPr lang="en-US" sz="1500" dirty="0"/>
          </a:p>
        </p:txBody>
      </p:sp>
      <p:sp>
        <p:nvSpPr>
          <p:cNvPr id="12" name="Fecha 3"/>
          <p:cNvSpPr txBox="1"/>
          <p:nvPr/>
        </p:nvSpPr>
        <p:spPr>
          <a:xfrm>
            <a:off x="685800" y="31470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oct</a:t>
            </a:r>
            <a:endParaRPr lang="en-US" sz="1600" dirty="0"/>
          </a:p>
        </p:txBody>
      </p:sp>
      <p:sp>
        <p:nvSpPr>
          <p:cNvPr id="13" name="Hito 3"/>
          <p:cNvSpPr/>
          <p:nvPr/>
        </p:nvSpPr>
        <p:spPr>
          <a:xfrm>
            <a:off x="1874520" y="3220212"/>
            <a:ext cx="219456" cy="219456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Paso 3"/>
          <p:cNvSpPr txBox="1"/>
          <p:nvPr/>
        </p:nvSpPr>
        <p:spPr>
          <a:xfrm>
            <a:off x="2331720" y="3011424"/>
            <a:ext cx="553212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Iluminación calibrada, cámaras y animaciones, render final y entrega.</a:t>
            </a:r>
            <a:endParaRPr lang="en-US" sz="1500" dirty="0"/>
          </a:p>
        </p:txBody>
      </p:sp>
      <p:sp>
        <p:nvSpPr>
          <p:cNvPr id="15" name="Fecha 4"/>
          <p:cNvSpPr txBox="1"/>
          <p:nvPr/>
        </p:nvSpPr>
        <p:spPr>
          <a:xfrm>
            <a:off x="685800" y="38938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oct</a:t>
            </a:r>
            <a:endParaRPr lang="en-US" sz="1600" dirty="0"/>
          </a:p>
        </p:txBody>
      </p:sp>
      <p:sp>
        <p:nvSpPr>
          <p:cNvPr id="16" name="Hito 4"/>
          <p:cNvSpPr/>
          <p:nvPr/>
        </p:nvSpPr>
        <p:spPr>
          <a:xfrm>
            <a:off x="1874520" y="39669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Paso 4"/>
          <p:cNvSpPr txBox="1"/>
          <p:nvPr/>
        </p:nvSpPr>
        <p:spPr>
          <a:xfrm>
            <a:off x="2331720" y="3758184"/>
            <a:ext cx="553212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Primera prueba final: «parece un render». Se rehicieron las pantallas como LED 16:9 y la luz de plató, y se añadió bruma.</a:t>
            </a:r>
            <a:endParaRPr lang="en-US" sz="1500" dirty="0"/>
          </a:p>
        </p:txBody>
      </p:sp>
      <p:sp>
        <p:nvSpPr>
          <p:cNvPr id="18" name="Fecha 5"/>
          <p:cNvSpPr txBox="1"/>
          <p:nvPr/>
        </p:nvSpPr>
        <p:spPr>
          <a:xfrm>
            <a:off x="685800" y="46405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oct</a:t>
            </a:r>
            <a:endParaRPr lang="en-US" sz="1600" dirty="0"/>
          </a:p>
        </p:txBody>
      </p:sp>
      <p:sp>
        <p:nvSpPr>
          <p:cNvPr id="19" name="Hito 5"/>
          <p:cNvSpPr/>
          <p:nvPr/>
        </p:nvSpPr>
        <p:spPr>
          <a:xfrm>
            <a:off x="1874520" y="471373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Paso 5"/>
          <p:cNvSpPr txBox="1"/>
          <p:nvPr/>
        </p:nvSpPr>
        <p:spPr>
          <a:xfrm>
            <a:off x="2331720" y="4504944"/>
            <a:ext cx="553212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Revisión sobre una captura anotada: barra de luces, vitrinas de vidrio, mesa y marco de la pantalla.</a:t>
            </a:r>
            <a:endParaRPr lang="en-US" sz="1500" dirty="0"/>
          </a:p>
        </p:txBody>
      </p:sp>
      <p:sp>
        <p:nvSpPr>
          <p:cNvPr id="21" name="Fecha 6"/>
          <p:cNvSpPr txBox="1"/>
          <p:nvPr/>
        </p:nvSpPr>
        <p:spPr>
          <a:xfrm>
            <a:off x="685800" y="53873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oct</a:t>
            </a:r>
            <a:endParaRPr lang="en-US" sz="1600" dirty="0"/>
          </a:p>
        </p:txBody>
      </p:sp>
      <p:sp>
        <p:nvSpPr>
          <p:cNvPr id="22" name="Hito 6"/>
          <p:cNvSpPr/>
          <p:nvPr/>
        </p:nvSpPr>
        <p:spPr>
          <a:xfrm>
            <a:off x="1874520" y="546049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Paso 6"/>
          <p:cNvSpPr txBox="1"/>
          <p:nvPr/>
        </p:nvSpPr>
        <p:spPr>
          <a:xfrm>
            <a:off x="2331720" y="5251704"/>
            <a:ext cx="553212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Vídeo del recorrido aéreo renderizado en Cycles.</a:t>
            </a:r>
            <a:endParaRPr lang="en-US" sz="1500" dirty="0"/>
          </a:p>
        </p:txBody>
      </p:sp>
      <p:sp>
        <p:nvSpPr>
          <p:cNvPr id="24" name="Tarjeta prueba final"/>
          <p:cNvSpPr/>
          <p:nvPr/>
        </p:nvSpPr>
        <p:spPr>
          <a:xfrm>
            <a:off x="8458200" y="1463040"/>
            <a:ext cx="3184855" cy="4480560"/>
          </a:xfrm>
          <a:prstGeom prst="roundRect">
            <a:avLst>
              <a:gd name="adj" fmla="val 229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Círculo FaCameraRetro"/>
          <p:cNvSpPr/>
          <p:nvPr/>
        </p:nvSpPr>
        <p:spPr>
          <a:xfrm>
            <a:off x="87782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o FaCameraRetro" descr="Icono de cáma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9972" y="1970532"/>
            <a:ext cx="283464" cy="283464"/>
          </a:xfrm>
          <a:prstGeom prst="rect">
            <a:avLst/>
          </a:prstGeom>
        </p:spPr>
      </p:pic>
      <p:sp>
        <p:nvSpPr>
          <p:cNvPr id="27" name="Cita prueba final"/>
          <p:cNvSpPr txBox="1"/>
          <p:nvPr/>
        </p:nvSpPr>
        <p:spPr>
          <a:xfrm>
            <a:off x="8778240" y="2651760"/>
            <a:ext cx="2544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«Parece un render»</a:t>
            </a:r>
            <a:endParaRPr lang="en-US" sz="2800" dirty="0"/>
          </a:p>
        </p:txBody>
      </p:sp>
      <p:sp>
        <p:nvSpPr>
          <p:cNvPr id="28" name="Texto prueba final"/>
          <p:cNvSpPr txBox="1"/>
          <p:nvPr/>
        </p:nvSpPr>
        <p:spPr>
          <a:xfrm>
            <a:off x="8778240" y="3840480"/>
            <a:ext cx="2544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Fue el veredicto de la primera prueba final, el 5 de octubre. Desde entonces se rehicieron pantallas, luz, vitrinas y mesa, y la prueba se repetirá con las imágenes nuevas.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Tiempo invertido: unas 24 horas</a:t>
            </a:r>
            <a:endParaRPr lang="en-US" sz="3600" dirty="0"/>
          </a:p>
        </p:txBody>
      </p:sp>
      <p:sp>
        <p:nvSpPr>
          <p:cNvPr id="3" name="Tarjeta reparto"/>
          <p:cNvSpPr/>
          <p:nvPr/>
        </p:nvSpPr>
        <p:spPr>
          <a:xfrm>
            <a:off x="548640" y="1463040"/>
            <a:ext cx="5120640" cy="4069080"/>
          </a:xfrm>
          <a:prstGeom prst="roundRect">
            <a:avLst>
              <a:gd name="adj" fmla="val 179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otal horas"/>
          <p:cNvSpPr txBox="1"/>
          <p:nvPr/>
        </p:nvSpPr>
        <p:spPr>
          <a:xfrm>
            <a:off x="914400" y="17373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~24 h</a:t>
            </a:r>
            <a:endParaRPr lang="en-US" sz="6000" dirty="0"/>
          </a:p>
        </p:txBody>
      </p:sp>
      <p:sp>
        <p:nvSpPr>
          <p:cNvPr id="5" name="Total etiqueta"/>
          <p:cNvSpPr txBox="1"/>
          <p:nvPr/>
        </p:nvSpPr>
        <p:spPr>
          <a:xfrm>
            <a:off x="91440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en total, repartidas en 4 jornadas</a:t>
            </a:r>
            <a:endParaRPr lang="en-US" sz="1600" dirty="0"/>
          </a:p>
        </p:txBody>
      </p:sp>
      <p:graphicFrame>
        <p:nvGraphicFramePr>
          <p:cNvPr id="6" name="Gráfico reparto horas" descr=""/>
          <p:cNvGraphicFramePr/>
          <p:nvPr/>
        </p:nvGraphicFramePr>
        <p:xfrm>
          <a:off x="777240" y="3108960"/>
          <a:ext cx="466344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eyenda ~17 h de trabajo"/>
          <p:cNvSpPr/>
          <p:nvPr/>
        </p:nvSpPr>
        <p:spPr>
          <a:xfrm>
            <a:off x="914400" y="4270248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8" name="Leyenda texto 1"/>
          <p:cNvSpPr txBox="1"/>
          <p:nvPr/>
        </p:nvSpPr>
        <p:spPr>
          <a:xfrm>
            <a:off x="1234440" y="4206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~17 h de trabajo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Modelado, scripts, control de calidad y revisiones</a:t>
            </a:r>
            <a:endParaRPr lang="en-US" sz="1400" dirty="0"/>
          </a:p>
        </p:txBody>
      </p:sp>
      <p:sp>
        <p:nvSpPr>
          <p:cNvPr id="9" name="Leyenda ~7 h de GPU"/>
          <p:cNvSpPr/>
          <p:nvPr/>
        </p:nvSpPr>
        <p:spPr>
          <a:xfrm>
            <a:off x="914400" y="4864608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10" name="Leyenda texto 2"/>
          <p:cNvSpPr txBox="1"/>
          <p:nvPr/>
        </p:nvSpPr>
        <p:spPr>
          <a:xfrm>
            <a:off x="1234440" y="4800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~7 h de GPU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Renders en la RTX 5090</a:t>
            </a:r>
            <a:endParaRPr lang="en-US" sz="1400" dirty="0"/>
          </a:p>
        </p:txBody>
      </p:sp>
      <p:sp>
        <p:nvSpPr>
          <p:cNvPr id="11" name="Tarjeta renders"/>
          <p:cNvSpPr/>
          <p:nvPr/>
        </p:nvSpPr>
        <p:spPr>
          <a:xfrm>
            <a:off x="5943600" y="1463040"/>
            <a:ext cx="5699455" cy="4069080"/>
          </a:xfrm>
          <a:prstGeom prst="roundRect">
            <a:avLst>
              <a:gd name="adj" fmla="val 179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ítulo renders"/>
          <p:cNvSpPr txBox="1"/>
          <p:nvPr/>
        </p:nvSpPr>
        <p:spPr>
          <a:xfrm>
            <a:off x="6309360" y="173736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Renders medidos, en minutos</a:t>
            </a:r>
            <a:endParaRPr lang="en-US" sz="1800" dirty="0"/>
          </a:p>
        </p:txBody>
      </p:sp>
      <p:graphicFrame>
        <p:nvGraphicFramePr>
          <p:cNvPr id="13" name="Gráfico renders" descr=""/>
          <p:cNvGraphicFramePr/>
          <p:nvPr/>
        </p:nvGraphicFramePr>
        <p:xfrm>
          <a:off x="6172200" y="2240280"/>
          <a:ext cx="5242255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Nota renders"/>
          <p:cNvSpPr txBox="1"/>
          <p:nvPr/>
        </p:nvSpPr>
        <p:spPr>
          <a:xfrm>
            <a:off x="6309360" y="4709160"/>
            <a:ext cx="4967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Las tres tandas de stills son la entrega y dos revisiones. En total, los renders suman unos 425 minutos (~7 h de GPU).</a:t>
            </a:r>
            <a:endParaRPr lang="en-US" sz="1400" dirty="0"/>
          </a:p>
        </p:txBody>
      </p:sp>
      <p:sp>
        <p:nvSpPr>
          <p:cNvPr id="15" name="Nota metodológica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Las horas de trabajo se estiman a partir de los registros del proyecto e incluyen las esperas por revisiones y descargas. Los tiempos de render son los medidos.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 geometría va donde mira la cámara</a:t>
            </a:r>
            <a:endParaRPr lang="en-US" sz="3600" dirty="0"/>
          </a:p>
        </p:txBody>
      </p:sp>
      <p:sp>
        <p:nvSpPr>
          <p:cNvPr id="3" name="Tarjeta Presupuesto de geometría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ítulo Presupuesto de geometría"/>
          <p:cNvSpPr txBox="1"/>
          <p:nvPr/>
        </p:nvSpPr>
        <p:spPr>
          <a:xfrm>
            <a:off x="868680" y="17373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Presupuesto de geometría</a:t>
            </a:r>
            <a:endParaRPr lang="en-US" sz="1800" dirty="0"/>
          </a:p>
        </p:txBody>
      </p:sp>
      <p:sp>
        <p:nvSpPr>
          <p:cNvPr id="5" name="Tarjeta Reparto por zona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ítulo Reparto por zona"/>
          <p:cNvSpPr txBox="1"/>
          <p:nvPr/>
        </p:nvSpPr>
        <p:spPr>
          <a:xfrm>
            <a:off x="4658258" y="17373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Reparto por zona</a:t>
            </a:r>
            <a:endParaRPr lang="en-US" sz="1800" dirty="0"/>
          </a:p>
        </p:txBody>
      </p:sp>
      <p:sp>
        <p:nvSpPr>
          <p:cNvPr id="7" name="Tarjeta Objetos repetidos"/>
          <p:cNvSpPr/>
          <p:nvPr/>
        </p:nvSpPr>
        <p:spPr>
          <a:xfrm>
            <a:off x="8127797" y="1463040"/>
            <a:ext cx="3515258" cy="448056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ítulo Objetos repetidos"/>
          <p:cNvSpPr txBox="1"/>
          <p:nvPr/>
        </p:nvSpPr>
        <p:spPr>
          <a:xfrm>
            <a:off x="8447837" y="17373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Objetos repetidos</a:t>
            </a:r>
            <a:endParaRPr lang="en-US" sz="1800" dirty="0"/>
          </a:p>
        </p:txBody>
      </p:sp>
      <p:graphicFrame>
        <p:nvGraphicFramePr>
          <p:cNvPr id="9" name="Gráfico Presupuesto" descr=""/>
          <p:cNvGraphicFramePr/>
          <p:nvPr/>
        </p:nvGraphicFramePr>
        <p:xfrm>
          <a:off x="960120" y="2240280"/>
          <a:ext cx="269229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Centro Presupuesto"/>
          <p:cNvSpPr txBox="1"/>
          <p:nvPr/>
        </p:nvSpPr>
        <p:spPr>
          <a:xfrm>
            <a:off x="1097280" y="2971800"/>
            <a:ext cx="2417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16 %</a:t>
            </a:r>
            <a:endParaRPr lang="en-US" sz="3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del presupuesto</a:t>
            </a:r>
            <a:endParaRPr lang="en-US" sz="3400" dirty="0"/>
          </a:p>
        </p:txBody>
      </p:sp>
      <p:sp>
        <p:nvSpPr>
          <p:cNvPr id="11" name="Texto presupuesto"/>
          <p:cNvSpPr txBox="1"/>
          <p:nvPr/>
        </p:nvSpPr>
        <p:spPr>
          <a:xfrm>
            <a:off x="868680" y="47548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2,38 M triángulos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 un presupuesto de 15 M medido en el equipo.</a:t>
            </a:r>
            <a:endParaRPr lang="en-US" sz="1500" dirty="0"/>
          </a:p>
        </p:txBody>
      </p:sp>
      <p:graphicFrame>
        <p:nvGraphicFramePr>
          <p:cNvPr id="12" name="Gráfico zonas" descr=""/>
          <p:cNvGraphicFramePr/>
          <p:nvPr/>
        </p:nvGraphicFramePr>
        <p:xfrm>
          <a:off x="4566818" y="2240280"/>
          <a:ext cx="305805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o zonas"/>
          <p:cNvSpPr txBox="1"/>
          <p:nvPr/>
        </p:nvSpPr>
        <p:spPr>
          <a:xfrm>
            <a:off x="4658258" y="47548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La zona principal lleva más detalle, luego la secundaria y casi nada el fondo.</a:t>
            </a:r>
            <a:endParaRPr lang="en-US" sz="1500" dirty="0"/>
          </a:p>
        </p:txBody>
      </p:sp>
      <p:graphicFrame>
        <p:nvGraphicFramePr>
          <p:cNvPr id="14" name="Gráfico Repetidos" descr=""/>
          <p:cNvGraphicFramePr/>
          <p:nvPr/>
        </p:nvGraphicFramePr>
        <p:xfrm>
          <a:off x="8539277" y="2240280"/>
          <a:ext cx="269229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Centro Repetidos"/>
          <p:cNvSpPr txBox="1"/>
          <p:nvPr/>
        </p:nvSpPr>
        <p:spPr>
          <a:xfrm>
            <a:off x="8676437" y="2971800"/>
            <a:ext cx="2417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61 %</a:t>
            </a:r>
            <a:endParaRPr lang="en-US" sz="3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son copias</a:t>
            </a:r>
            <a:endParaRPr lang="en-US" sz="3400" dirty="0"/>
          </a:p>
        </p:txBody>
      </p:sp>
      <p:sp>
        <p:nvSpPr>
          <p:cNvPr id="16" name="Texto repetidos"/>
          <p:cNvSpPr txBox="1"/>
          <p:nvPr/>
        </p:nvSpPr>
        <p:spPr>
          <a:xfrm>
            <a:off x="8447837" y="47548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279 de 457 objetos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comparten la misma malla y no ocupan memoria extra.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Ligero, autocontenido y sin errores</a:t>
            </a:r>
            <a:endParaRPr lang="en-US" sz="3600" dirty="0"/>
          </a:p>
        </p:txBody>
      </p:sp>
      <p:sp>
        <p:nvSpPr>
          <p:cNvPr id="3" name="Tarjeta indicadores"/>
          <p:cNvSpPr/>
          <p:nvPr/>
        </p:nvSpPr>
        <p:spPr>
          <a:xfrm>
            <a:off x="548640" y="1463040"/>
            <a:ext cx="681228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Círculo FaImage"/>
          <p:cNvSpPr/>
          <p:nvPr/>
        </p:nvSpPr>
        <p:spPr>
          <a:xfrm>
            <a:off x="822960" y="1801368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o FaImage" descr="Icono de ima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29384"/>
            <a:ext cx="256032" cy="256032"/>
          </a:xfrm>
          <a:prstGeom prst="rect">
            <a:avLst/>
          </a:prstGeom>
        </p:spPr>
      </p:pic>
      <p:sp>
        <p:nvSpPr>
          <p:cNvPr id="6" name="Valor Texturas"/>
          <p:cNvSpPr txBox="1"/>
          <p:nvPr/>
        </p:nvSpPr>
        <p:spPr>
          <a:xfrm>
            <a:off x="1554480" y="171907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TEXTURAS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 en 4K · 13 en 2K</a:t>
            </a:r>
            <a:endParaRPr lang="en-US" sz="1100" dirty="0"/>
          </a:p>
        </p:txBody>
      </p:sp>
      <p:sp>
        <p:nvSpPr>
          <p:cNvPr id="7" name="Texto Texturas"/>
          <p:cNvSpPr txBox="1"/>
          <p:nvPr/>
        </p:nvSpPr>
        <p:spPr>
          <a:xfrm>
            <a:off x="4343400" y="170078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Solo usan 4K las superficies que salen en primer plano; el resto va a 2K o menos.</a:t>
            </a:r>
            <a:endParaRPr lang="en-US" sz="1400" dirty="0"/>
          </a:p>
        </p:txBody>
      </p:sp>
      <p:sp>
        <p:nvSpPr>
          <p:cNvPr id="8" name="Separador 1"/>
          <p:cNvSpPr/>
          <p:nvPr/>
        </p:nvSpPr>
        <p:spPr>
          <a:xfrm>
            <a:off x="822960" y="2468880"/>
            <a:ext cx="6263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Círculo FaPalette"/>
          <p:cNvSpPr/>
          <p:nvPr/>
        </p:nvSpPr>
        <p:spPr>
          <a:xfrm>
            <a:off x="822960" y="2624328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o FaPalette" descr="Icono de pal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752344"/>
            <a:ext cx="256032" cy="256032"/>
          </a:xfrm>
          <a:prstGeom prst="rect">
            <a:avLst/>
          </a:prstGeom>
        </p:spPr>
      </p:pic>
      <p:sp>
        <p:nvSpPr>
          <p:cNvPr id="11" name="Valor Materiales"/>
          <p:cNvSpPr txBox="1"/>
          <p:nvPr/>
        </p:nvSpPr>
        <p:spPr>
          <a:xfrm>
            <a:off x="1554480" y="25420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MATERIALES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67</a:t>
            </a:r>
            <a:endParaRPr lang="en-US" sz="1100" dirty="0"/>
          </a:p>
        </p:txBody>
      </p:sp>
      <p:sp>
        <p:nvSpPr>
          <p:cNvPr id="12" name="Texto Materiales"/>
          <p:cNvSpPr txBox="1"/>
          <p:nvPr/>
        </p:nvSpPr>
        <p:spPr>
          <a:xfrm>
            <a:off x="4343400" y="25237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Sin duplicados, con desgaste e imperfecciones compartidos entre todos.</a:t>
            </a:r>
            <a:endParaRPr lang="en-US" sz="1400" dirty="0"/>
          </a:p>
        </p:txBody>
      </p:sp>
      <p:sp>
        <p:nvSpPr>
          <p:cNvPr id="13" name="Separador 2"/>
          <p:cNvSpPr/>
          <p:nvPr/>
        </p:nvSpPr>
        <p:spPr>
          <a:xfrm>
            <a:off x="822960" y="3291840"/>
            <a:ext cx="6263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Círculo FaFileZipper"/>
          <p:cNvSpPr/>
          <p:nvPr/>
        </p:nvSpPr>
        <p:spPr>
          <a:xfrm>
            <a:off x="822960" y="3447288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o FaFileZipper" descr="Icono de archivo comprimi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575304"/>
            <a:ext cx="256032" cy="256032"/>
          </a:xfrm>
          <a:prstGeom prst="rect">
            <a:avLst/>
          </a:prstGeom>
        </p:spPr>
      </p:pic>
      <p:sp>
        <p:nvSpPr>
          <p:cNvPr id="16" name="Valor Archivo"/>
          <p:cNvSpPr txBox="1"/>
          <p:nvPr/>
        </p:nvSpPr>
        <p:spPr>
          <a:xfrm>
            <a:off x="1554480" y="336499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ARCHIVO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157 MB</a:t>
            </a:r>
            <a:endParaRPr lang="en-US" sz="1100" dirty="0"/>
          </a:p>
        </p:txBody>
      </p:sp>
      <p:sp>
        <p:nvSpPr>
          <p:cNvPr id="17" name="Texto Archivo"/>
          <p:cNvSpPr txBox="1"/>
          <p:nvPr/>
        </p:nvSpPr>
        <p:spPr>
          <a:xfrm>
            <a:off x="4343400" y="33467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Lleva dentro todas sus texturas y perfiles de luz; se abre en cualquier equipo.</a:t>
            </a:r>
            <a:endParaRPr lang="en-US" sz="1400" dirty="0"/>
          </a:p>
        </p:txBody>
      </p:sp>
      <p:sp>
        <p:nvSpPr>
          <p:cNvPr id="18" name="Separador 3"/>
          <p:cNvSpPr/>
          <p:nvPr/>
        </p:nvSpPr>
        <p:spPr>
          <a:xfrm>
            <a:off x="822960" y="4114800"/>
            <a:ext cx="6263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Círculo FaGaugeHigh"/>
          <p:cNvSpPr/>
          <p:nvPr/>
        </p:nvSpPr>
        <p:spPr>
          <a:xfrm>
            <a:off x="822960" y="4270248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o FaGaugeHigh" descr="Icono de velocímetr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98264"/>
            <a:ext cx="256032" cy="256032"/>
          </a:xfrm>
          <a:prstGeom prst="rect">
            <a:avLst/>
          </a:prstGeom>
        </p:spPr>
      </p:pic>
      <p:sp>
        <p:nvSpPr>
          <p:cNvPr id="21" name="Valor Rendimiento"/>
          <p:cNvSpPr txBox="1"/>
          <p:nvPr/>
        </p:nvSpPr>
        <p:spPr>
          <a:xfrm>
            <a:off x="1554480" y="418795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RENDIMIENTO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 fps</a:t>
            </a:r>
            <a:endParaRPr lang="en-US" sz="1100" dirty="0"/>
          </a:p>
        </p:txBody>
      </p:sp>
      <p:sp>
        <p:nvSpPr>
          <p:cNvPr id="22" name="Texto Rendimiento"/>
          <p:cNvSpPr txBox="1"/>
          <p:nvPr/>
        </p:nvSpPr>
        <p:spPr>
          <a:xfrm>
            <a:off x="4343400" y="416966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El doble del mínimo exigido, con las 101 luces activas.</a:t>
            </a:r>
            <a:endParaRPr lang="en-US" sz="1400" dirty="0"/>
          </a:p>
        </p:txBody>
      </p:sp>
      <p:sp>
        <p:nvSpPr>
          <p:cNvPr id="23" name="Separador 4"/>
          <p:cNvSpPr/>
          <p:nvPr/>
        </p:nvSpPr>
        <p:spPr>
          <a:xfrm>
            <a:off x="822960" y="4937760"/>
            <a:ext cx="6263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Círculo FaCircleCheck"/>
          <p:cNvSpPr/>
          <p:nvPr/>
        </p:nvSpPr>
        <p:spPr>
          <a:xfrm>
            <a:off x="822960" y="5093208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cono FaCircleCheck" descr="Icono de verificació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221224"/>
            <a:ext cx="256032" cy="256032"/>
          </a:xfrm>
          <a:prstGeom prst="rect">
            <a:avLst/>
          </a:prstGeom>
        </p:spPr>
      </p:pic>
      <p:sp>
        <p:nvSpPr>
          <p:cNvPr id="26" name="Valor Calidad"/>
          <p:cNvSpPr txBox="1"/>
          <p:nvPr/>
        </p:nvSpPr>
        <p:spPr>
          <a:xfrm>
            <a:off x="1554480" y="501091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CALIDAD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 errores</a:t>
            </a:r>
            <a:endParaRPr lang="en-US" sz="1100" dirty="0"/>
          </a:p>
        </p:txBody>
      </p:sp>
      <p:sp>
        <p:nvSpPr>
          <p:cNvPr id="27" name="Texto Calidad"/>
          <p:cNvSpPr txBox="1"/>
          <p:nvPr/>
        </p:nvSpPr>
        <p:spPr>
          <a:xfrm>
            <a:off x="4343400" y="4992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Auditoría automática en verde, sin píxeles defectuosos y sin huecos visibles en el plató.</a:t>
            </a:r>
            <a:endParaRPr lang="en-US" sz="1400" dirty="0"/>
          </a:p>
        </p:txBody>
      </p:sp>
      <p:pic>
        <p:nvPicPr>
          <p:cNvPr id="28" name="Foto CAM_04" descr="Detalle del canto del tablero de metal cepillado con fondo desenfoca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463040"/>
            <a:ext cx="4007815" cy="4069080"/>
          </a:xfrm>
          <a:prstGeom prst="rect">
            <a:avLst/>
          </a:prstGeom>
        </p:spPr>
      </p:pic>
      <p:sp>
        <p:nvSpPr>
          <p:cNvPr id="29" name="Pie CAM_04"/>
          <p:cNvSpPr txBox="1"/>
          <p:nvPr/>
        </p:nvSpPr>
        <p:spPr>
          <a:xfrm>
            <a:off x="7635240" y="562356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Detalle del tablero (CAM_04): textura 4K en primer plano.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El plató completo en 360°</a:t>
            </a:r>
            <a:endParaRPr lang="en-US" sz="3600" dirty="0"/>
          </a:p>
        </p:txBody>
      </p:sp>
      <p:pic>
        <p:nvPicPr>
          <p:cNvPr id="3" name="Foto panorámica 360" descr="Panorámica 360° del plató: zona de entrevistas con sofá a la izquierda, mesa principal bajo el halo de luz en el centro, y mueble de madera, pantalla del estadio y escalera con mosaico LED a la derec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4480560"/>
          </a:xfrm>
          <a:prstGeom prst="rect">
            <a:avLst/>
          </a:prstGeom>
        </p:spPr>
      </p:pic>
      <p:sp>
        <p:nvSpPr>
          <p:cNvPr id="4" name="Pie panorámica"/>
          <p:cNvSpPr txBox="1"/>
          <p:nvPr/>
        </p:nvSpPr>
        <p:spPr>
          <a:xfrm>
            <a:off x="548640" y="59618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Panorámica 360°: la mesa principal en el centro, la zona de entrevistas a la izquierda y la escalera con el mosaico LED a la derecha.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Otros ángulos del plató</a:t>
            </a:r>
            <a:endParaRPr lang="en-US" sz="3600" dirty="0"/>
          </a:p>
        </p:txBody>
      </p:sp>
      <p:pic>
        <p:nvPicPr>
          <p:cNvPr id="3" name="Foto vista_entrevistas_32.jpg" descr="Vista lateral del plató: sofá blanco con cojines sobre tarima de mármol, escalera con barandilla de vidrio, mosaico LED, pantallas y la mesa principal con sillas blancas a la derec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606698"/>
          </a:xfrm>
          <a:prstGeom prst="rect">
            <a:avLst/>
          </a:prstGeom>
        </p:spPr>
      </p:pic>
      <p:sp>
        <p:nvSpPr>
          <p:cNvPr id="4" name="Pie vista_entrevistas_32.jpg"/>
          <p:cNvSpPr txBox="1"/>
          <p:nvPr/>
        </p:nvSpPr>
        <p:spPr>
          <a:xfrm>
            <a:off x="548640" y="5088026"/>
            <a:ext cx="541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Zona de entrevistas: sofá sobre tarima de mármol, escalera con barandilla de vidrio y mosaico LED, con la mesa principal a la derecha.</a:t>
            </a:r>
            <a:endParaRPr lang="en-US" sz="1200" dirty="0"/>
          </a:p>
        </p:txBody>
      </p:sp>
      <p:pic>
        <p:nvPicPr>
          <p:cNvPr id="5" name="Foto vista_mesa_32.jpg" descr="Vista desde la mesa de presentadores, con micrófonos y tableta en primer plano, hacia la pantalla del estadio, la escalera, el mosaico LED y el sof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606698"/>
          </a:xfrm>
          <a:prstGeom prst="rect">
            <a:avLst/>
          </a:prstGeom>
        </p:spPr>
      </p:pic>
      <p:sp>
        <p:nvSpPr>
          <p:cNvPr id="6" name="Pie vista_mesa_32.jpg"/>
          <p:cNvSpPr txBox="1"/>
          <p:nvPr/>
        </p:nvSpPr>
        <p:spPr>
          <a:xfrm>
            <a:off x="6233008" y="5088026"/>
            <a:ext cx="541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Desde la mesa principal: pantalla del estadio, escalera, mosaico LED y zona de entrevistas.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Entregables listos para usar</a:t>
            </a:r>
            <a:endParaRPr lang="en-US" sz="3600" dirty="0"/>
          </a:p>
        </p:txBody>
      </p:sp>
      <p:pic>
        <p:nvPicPr>
          <p:cNvPr id="3" name="Foto CAM_02" descr="Plano general del plató con la pantalla del estadio, la mesa sobre su tarima y las vitrinas az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309360" cy="4069080"/>
          </a:xfrm>
          <a:prstGeom prst="rect">
            <a:avLst/>
          </a:prstGeom>
        </p:spPr>
      </p:pic>
      <p:sp>
        <p:nvSpPr>
          <p:cNvPr id="4" name="Pie CAM_02"/>
          <p:cNvSpPr txBox="1"/>
          <p:nvPr/>
        </p:nvSpPr>
        <p:spPr>
          <a:xfrm>
            <a:off x="548640" y="56235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Plano general (CAM_02).</a:t>
            </a:r>
            <a:endParaRPr lang="en-US" sz="1200" dirty="0"/>
          </a:p>
        </p:txBody>
      </p:sp>
      <p:sp>
        <p:nvSpPr>
          <p:cNvPr id="5" name="Círculo FaCube"/>
          <p:cNvSpPr/>
          <p:nvPr/>
        </p:nvSpPr>
        <p:spPr>
          <a:xfrm>
            <a:off x="7223760" y="15087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o FaCube" descr="Icono de cubo 3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45920"/>
            <a:ext cx="274320" cy="274320"/>
          </a:xfrm>
          <a:prstGeom prst="rect">
            <a:avLst/>
          </a:prstGeom>
        </p:spPr>
      </p:pic>
      <p:sp>
        <p:nvSpPr>
          <p:cNvPr id="7" name="Título Escena de Blender"/>
          <p:cNvSpPr txBox="1"/>
          <p:nvPr/>
        </p:nvSpPr>
        <p:spPr>
          <a:xfrm>
            <a:off x="8001000" y="1508760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Escena de Blender</a:t>
            </a:r>
            <a:endParaRPr lang="en-US" sz="1800" dirty="0"/>
          </a:p>
        </p:txBody>
      </p:sp>
      <p:sp>
        <p:nvSpPr>
          <p:cNvPr id="8" name="Texto Escena de Blender"/>
          <p:cNvSpPr txBox="1"/>
          <p:nvPr/>
        </p:nvSpPr>
        <p:spPr>
          <a:xfrm>
            <a:off x="8001000" y="1920240"/>
            <a:ext cx="36420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Empaquetada y lista para abrir, con un espacio de trabajo preparado para recorrerla.</a:t>
            </a:r>
            <a:endParaRPr lang="en-US" sz="1500" dirty="0"/>
          </a:p>
        </p:txBody>
      </p:sp>
      <p:sp>
        <p:nvSpPr>
          <p:cNvPr id="9" name="Círculo FaImages"/>
          <p:cNvSpPr/>
          <p:nvPr/>
        </p:nvSpPr>
        <p:spPr>
          <a:xfrm>
            <a:off x="7223760" y="26289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o FaImages" descr="Icono de imáge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766060"/>
            <a:ext cx="274320" cy="274320"/>
          </a:xfrm>
          <a:prstGeom prst="rect">
            <a:avLst/>
          </a:prstGeom>
        </p:spPr>
      </p:pic>
      <p:sp>
        <p:nvSpPr>
          <p:cNvPr id="11" name="Título Seis imágenes finales"/>
          <p:cNvSpPr txBox="1"/>
          <p:nvPr/>
        </p:nvSpPr>
        <p:spPr>
          <a:xfrm>
            <a:off x="8001000" y="2628900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Seis imágenes finales</a:t>
            </a:r>
            <a:endParaRPr lang="en-US" sz="1800" dirty="0"/>
          </a:p>
        </p:txBody>
      </p:sp>
      <p:sp>
        <p:nvSpPr>
          <p:cNvPr id="12" name="Texto Seis imágenes finales"/>
          <p:cNvSpPr txBox="1"/>
          <p:nvPr/>
        </p:nvSpPr>
        <p:spPr>
          <a:xfrm>
            <a:off x="8001000" y="3040380"/>
            <a:ext cx="36420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Cinco en 4K y una panorámica 360°, en formato de edición y en PNG.</a:t>
            </a:r>
            <a:endParaRPr lang="en-US" sz="1500" dirty="0"/>
          </a:p>
        </p:txBody>
      </p:sp>
      <p:sp>
        <p:nvSpPr>
          <p:cNvPr id="13" name="Círculo FaFilm"/>
          <p:cNvSpPr/>
          <p:nvPr/>
        </p:nvSpPr>
        <p:spPr>
          <a:xfrm>
            <a:off x="7223760" y="37490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Icono FaFilm" descr="Icono de películ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3886200"/>
            <a:ext cx="274320" cy="274320"/>
          </a:xfrm>
          <a:prstGeom prst="rect">
            <a:avLst/>
          </a:prstGeom>
        </p:spPr>
      </p:pic>
      <p:sp>
        <p:nvSpPr>
          <p:cNvPr id="15" name="Título Vídeo de 45 s"/>
          <p:cNvSpPr txBox="1"/>
          <p:nvPr/>
        </p:nvSpPr>
        <p:spPr>
          <a:xfrm>
            <a:off x="8001000" y="3749040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Vídeo de 45 s</a:t>
            </a:r>
            <a:endParaRPr lang="en-US" sz="1800" dirty="0"/>
          </a:p>
        </p:txBody>
      </p:sp>
      <p:sp>
        <p:nvSpPr>
          <p:cNvPr id="16" name="Texto Vídeo de 45 s"/>
          <p:cNvSpPr txBox="1"/>
          <p:nvPr/>
        </p:nvSpPr>
        <p:spPr>
          <a:xfrm>
            <a:off x="8001000" y="4160520"/>
            <a:ext cx="36420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Recorrido aéreo, más tres animaciones de cámara listas para renderizar.</a:t>
            </a:r>
            <a:endParaRPr lang="en-US" sz="1500" dirty="0"/>
          </a:p>
        </p:txBody>
      </p:sp>
      <p:sp>
        <p:nvSpPr>
          <p:cNvPr id="17" name="Círculo FaFileLines"/>
          <p:cNvSpPr/>
          <p:nvPr/>
        </p:nvSpPr>
        <p:spPr>
          <a:xfrm>
            <a:off x="7223760" y="48691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cono FaFileLines" descr="Icono de documen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5006340"/>
            <a:ext cx="274320" cy="274320"/>
          </a:xfrm>
          <a:prstGeom prst="rect">
            <a:avLst/>
          </a:prstGeom>
        </p:spPr>
      </p:pic>
      <p:sp>
        <p:nvSpPr>
          <p:cNvPr id="19" name="Título Documentación"/>
          <p:cNvSpPr txBox="1"/>
          <p:nvPr/>
        </p:nvSpPr>
        <p:spPr>
          <a:xfrm>
            <a:off x="8001000" y="4869180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Documentación</a:t>
            </a:r>
            <a:endParaRPr lang="en-US" sz="1800" dirty="0"/>
          </a:p>
        </p:txBody>
      </p:sp>
      <p:sp>
        <p:nvSpPr>
          <p:cNvPr id="20" name="Texto Documentación"/>
          <p:cNvSpPr txBox="1"/>
          <p:nvPr/>
        </p:nvSpPr>
        <p:spPr>
          <a:xfrm>
            <a:off x="8001000" y="5280660"/>
            <a:ext cx="36420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Guía de uso, créditos y licencias, e informe de calidad fase por fase.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Siguientes pasos</a:t>
            </a:r>
            <a:endParaRPr lang="en-US" sz="3600" dirty="0"/>
          </a:p>
        </p:txBody>
      </p:sp>
      <p:sp>
        <p:nvSpPr>
          <p:cNvPr id="3" name="Tarjeta prueba final"/>
          <p:cNvSpPr/>
          <p:nvPr/>
        </p:nvSpPr>
        <p:spPr>
          <a:xfrm>
            <a:off x="548640" y="1554480"/>
            <a:ext cx="5410048" cy="3749040"/>
          </a:xfrm>
          <a:prstGeom prst="roundRect">
            <a:avLst>
              <a:gd name="adj" fmla="val 195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4" name="Círculo FaUserCheck"/>
          <p:cNvSpPr/>
          <p:nvPr/>
        </p:nvSpPr>
        <p:spPr>
          <a:xfrm>
            <a:off x="914400" y="19202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FaUserCheck" descr="Icono de persona con verific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071116"/>
            <a:ext cx="301752" cy="301752"/>
          </a:xfrm>
          <a:prstGeom prst="rect">
            <a:avLst/>
          </a:prstGeom>
        </p:spPr>
      </p:pic>
      <p:sp>
        <p:nvSpPr>
          <p:cNvPr id="6" name="Título paso 1"/>
          <p:cNvSpPr txBox="1"/>
          <p:nvPr/>
        </p:nvSpPr>
        <p:spPr>
          <a:xfrm>
            <a:off x="1737360" y="1920240"/>
            <a:ext cx="385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Repetir la prueba final</a:t>
            </a:r>
            <a:endParaRPr lang="en-US" sz="2400" dirty="0"/>
          </a:p>
        </p:txBody>
      </p:sp>
      <p:sp>
        <p:nvSpPr>
          <p:cNvPr id="7" name="Texto paso 1"/>
          <p:cNvSpPr txBox="1"/>
          <p:nvPr/>
        </p:nvSpPr>
        <p:spPr>
          <a:xfrm>
            <a:off x="914400" y="278892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Con las imágenes nuevas y con personas que no conozcan el proyecto. La respuesta que se busca:</a:t>
            </a:r>
            <a:endParaRPr lang="en-US" sz="1800" dirty="0"/>
          </a:p>
        </p:txBody>
      </p:sp>
      <p:sp>
        <p:nvSpPr>
          <p:cNvPr id="8" name="Cita objetivo"/>
          <p:cNvSpPr txBox="1"/>
          <p:nvPr/>
        </p:nvSpPr>
        <p:spPr>
          <a:xfrm>
            <a:off x="914400" y="370332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«Es una foto»</a:t>
            </a:r>
            <a:endParaRPr lang="en-US" sz="4000" dirty="0"/>
          </a:p>
        </p:txBody>
      </p:sp>
      <p:sp>
        <p:nvSpPr>
          <p:cNvPr id="9" name="Tarjeta ahorro de espacio"/>
          <p:cNvSpPr/>
          <p:nvPr/>
        </p:nvSpPr>
        <p:spPr>
          <a:xfrm>
            <a:off x="6233008" y="1554480"/>
            <a:ext cx="5410048" cy="3749040"/>
          </a:xfrm>
          <a:prstGeom prst="roundRect">
            <a:avLst>
              <a:gd name="adj" fmla="val 1951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Círculo FaHardDrive"/>
          <p:cNvSpPr/>
          <p:nvPr/>
        </p:nvSpPr>
        <p:spPr>
          <a:xfrm>
            <a:off x="6598768" y="19202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o FaHardDrive" descr="Icono de disco d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644" y="2071116"/>
            <a:ext cx="301752" cy="301752"/>
          </a:xfrm>
          <a:prstGeom prst="rect">
            <a:avLst/>
          </a:prstGeom>
        </p:spPr>
      </p:pic>
      <p:sp>
        <p:nvSpPr>
          <p:cNvPr id="12" name="Título paso 2"/>
          <p:cNvSpPr txBox="1"/>
          <p:nvPr/>
        </p:nvSpPr>
        <p:spPr>
          <a:xfrm>
            <a:off x="7421728" y="1920240"/>
            <a:ext cx="385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Ahorrar espacio</a:t>
            </a:r>
            <a:endParaRPr lang="en-US" sz="2400" dirty="0"/>
          </a:p>
        </p:txBody>
      </p:sp>
      <p:sp>
        <p:nvSpPr>
          <p:cNvPr id="13" name="Cifra 16 GB"/>
          <p:cNvSpPr txBox="1"/>
          <p:nvPr/>
        </p:nvSpPr>
        <p:spPr>
          <a:xfrm>
            <a:off x="6598768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 GB</a:t>
            </a:r>
            <a:endParaRPr lang="en-US" sz="3000" dirty="0"/>
          </a:p>
        </p:txBody>
      </p:sp>
      <p:sp>
        <p:nvSpPr>
          <p:cNvPr id="14" name="Texto 16 GB"/>
          <p:cNvSpPr txBox="1"/>
          <p:nvPr/>
        </p:nvSpPr>
        <p:spPr>
          <a:xfrm>
            <a:off x="8930488" y="2788920"/>
            <a:ext cx="2346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Fotogramas sueltos del vídeo: se pueden borrar si basta con el MP4.</a:t>
            </a:r>
            <a:endParaRPr lang="en-US" sz="1600" dirty="0"/>
          </a:p>
        </p:txBody>
      </p:sp>
      <p:sp>
        <p:nvSpPr>
          <p:cNvPr id="15" name="Cifra 20–30 MB"/>
          <p:cNvSpPr txBox="1"/>
          <p:nvPr/>
        </p:nvSpPr>
        <p:spPr>
          <a:xfrm>
            <a:off x="6598768" y="3931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20–30 MB</a:t>
            </a:r>
            <a:endParaRPr lang="en-US" sz="3000" dirty="0"/>
          </a:p>
        </p:txBody>
      </p:sp>
      <p:sp>
        <p:nvSpPr>
          <p:cNvPr id="16" name="Texto 20–30 MB"/>
          <p:cNvSpPr txBox="1"/>
          <p:nvPr/>
        </p:nvSpPr>
        <p:spPr>
          <a:xfrm>
            <a:off x="8930488" y="3931920"/>
            <a:ext cx="2346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 quitar la imagen de referencia del archivo de Blender.</a:t>
            </a:r>
            <a:endParaRPr lang="en-US" sz="1600" dirty="0"/>
          </a:p>
        </p:txBody>
      </p:sp>
      <p:sp>
        <p:nvSpPr>
          <p:cNvPr id="17" name="Ficha técnica"/>
          <p:cNvSpPr txBox="1"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Proyecto set_virtual · octubre de 2026 · Blender 5.2, Cycles y EEVEE en una RTX 5090.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t DEPORTES">
  <a:themeElements>
    <a:clrScheme name="Set DEPORTES">
      <a:dk1>
        <a:srgbClr val="1D1A24"/>
      </a:dk1>
      <a:lt1>
        <a:srgbClr val="FFFFFF"/>
      </a:lt1>
      <a:dk2>
        <a:srgbClr val="241D2E"/>
      </a:dk2>
      <a:lt2>
        <a:srgbClr val="F6F4F8"/>
      </a:lt2>
      <a:accent1>
        <a:srgbClr val="A3238F"/>
      </a:accent1>
      <a:accent2>
        <a:srgbClr val="5B4BD6"/>
      </a:accent2>
      <a:accent3>
        <a:srgbClr val="E266CF"/>
      </a:accent3>
      <a:accent4>
        <a:srgbClr val="625C6E"/>
      </a:accent4>
      <a:accent5>
        <a:srgbClr val="E2DDE9"/>
      </a:accent5>
      <a:accent6>
        <a:srgbClr val="F3E3F0"/>
      </a:accent6>
      <a:hlink>
        <a:srgbClr val="A3238F"/>
      </a:hlink>
      <a:folHlink>
        <a:srgbClr val="5B4BD6"/>
      </a:folHlink>
    </a:clrScheme>
    <a:fontScheme name="Set DEPORT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virtual «DEPORTES» · Informe ejecutivo</dc:title>
  <dc:subject>Plató de televisión deportiva fotorrealista en Blender 5.2</dc:subject>
  <dc:creator>Proyecto set_virtual</dc:creator>
  <cp:lastModifiedBy>Proyecto set_virtual</cp:lastModifiedBy>
  <cp:revision>1</cp:revision>
  <dcterms:created xsi:type="dcterms:W3CDTF">2026-10-07T14:43:33Z</dcterms:created>
  <dcterms:modified xsi:type="dcterms:W3CDTF">2026-10-07T14:43:33Z</dcterms:modified>
</cp:coreProperties>
</file>