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ción" id="{30408668-be91-703a-d5e3-81efd9f14ff7}">
          <p14:sldIdLst>
            <p14:sldId id="256"/>
            <p14:sldId id="257"/>
          </p14:sldIdLst>
        </p14:section>
        <p14:section name="Resultado" id="{c7229408-611d-bd97-5f02-126f5e24ca03}">
          <p14:sldIdLst>
            <p14:sldId id="258"/>
            <p14:sldId id="259"/>
          </p14:sldIdLst>
        </p14:section>
        <p14:section name="Cifras" id="{1a4e2cc3-920b-5ff4-bb40-df5e3c498178}">
          <p14:sldIdLst>
            <p14:sldId id="260"/>
            <p14:sldId id="261"/>
            <p14:sldId id="262"/>
            <p14:sldId id="263"/>
          </p14:sldIdLst>
        </p14:section>
        <p14:section name="Proceso" id="{42096908-d06c-8d4c-5103-5644e1d87f79}">
          <p14:sldIdLst>
            <p14:sldId id="264"/>
          </p14:sldIdLst>
        </p14:section>
        <p14:section name="Cierre" id="{47406bda-eef8-6abb-142f-5be0415f2a12}">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1" i="0" u="none" strike="noStrike">
                <a:solidFill>
                  <a:srgbClr val="2B211B"/>
                </a:solidFill>
                <a:latin typeface="+mn-lt"/>
              </a:defRPr>
            </a:pPr>
            <a:r>
              <a:rPr sz="1600" b="1" i="0" u="none" strike="noStrike">
                <a:solidFill>
                  <a:srgbClr val="2B211B"/>
                </a:solidFill>
                <a:latin typeface="+mn-lt"/>
              </a:rPr>
              <a:t>Reparto del tiempo, en minutos</a:t>
            </a:r>
          </a:p>
        </c:rich>
      </c:tx>
      <c:layout/>
      <c:overlay val="0"/>
    </c:title>
    <c:autoTitleDeleted val="0"/>
    <c:plotArea>
      <c:layout/>
      <c:barChart>
        <c:barDir val="bar"/>
        <c:grouping val="stacked"/>
        <c:varyColors val="0"/>
        <c:ser>
          <c:idx val="0"/>
          <c:order val="0"/>
          <c:tx>
            <c:strRef>
              <c:f>Sheet1!$B$1</c:f>
              <c:strCache>
                <c:ptCount val="1"/>
                <c:pt idx="0">
                  <c:v>Trabajo activo</c:v>
                </c:pt>
              </c:strCache>
            </c:strRef>
          </c:tx>
          <c:spPr>
            <a:solidFill>
              <a:srgbClr val="C0742E"/>
            </a:solidFill>
            <a:effectLst/>
          </c:spPr>
          <c:invertIfNegative val="0"/>
          <c:dLbls>
            <c:numFmt formatCode="#,##0" sourceLinked="0"/>
            <c:txPr>
              <a:bodyPr/>
              <a:lstStyle/>
              <a:p>
                <a:pPr>
                  <a:defRPr b="1" i="0" strike="noStrike" sz="1600" u="none">
                    <a:solidFill>
                      <a:srgbClr val="FFFFFF"/>
                    </a:solidFill>
                    <a:latin typeface="+mn-lt"/>
                  </a:defRPr>
                </a:pPr>
              </a:p>
            </c:txPr>
            <c:dLblPos val="ctr"/>
            <c:showLegendKey val="0"/>
            <c:showVal val="1"/>
            <c:showCatName val="0"/>
            <c:showSerName val="0"/>
            <c:showPercent val="0"/>
            <c:showBubbleSize val="0"/>
            <c:showLeaderLines val="0"/>
          </c:dLbls>
          <c:cat>
            <c:multiLvlStrRef>
              <c:f>Sheet1!$A$2:$A$2</c:f>
              <c:multiLvlStrCache>
                <c:ptCount val="1"/>
                <c:lvl>
                  <c:pt idx="0">
                    <c:v>Tiempo</c:v>
                  </c:pt>
                </c:lvl>
              </c:multiLvlStrCache>
            </c:multiLvlStrRef>
          </c:cat>
          <c:val>
            <c:numRef>
              <c:f>Sheet1!$B$2:$B$2</c:f>
              <c:numCache>
                <c:formatCode>General</c:formatCode>
                <c:ptCount val="1"/>
                <c:pt idx="0">
                  <c:v>95</c:v>
                </c:pt>
              </c:numCache>
            </c:numRef>
          </c:val>
        </c:ser>
        <c:ser>
          <c:idx val="1"/>
          <c:order val="1"/>
          <c:tx>
            <c:strRef>
              <c:f>Sheet1!$C$1</c:f>
              <c:strCache>
                <c:ptCount val="1"/>
                <c:pt idx="0">
                  <c:v>Render final 4K</c:v>
                </c:pt>
              </c:strCache>
            </c:strRef>
          </c:tx>
          <c:spPr>
            <a:solidFill>
              <a:srgbClr val="3E6BC2"/>
            </a:solidFill>
            <a:effectLst/>
          </c:spPr>
          <c:invertIfNegative val="0"/>
          <c:dLbls>
            <c:numFmt formatCode="#,##0" sourceLinked="0"/>
            <c:txPr>
              <a:bodyPr/>
              <a:lstStyle/>
              <a:p>
                <a:pPr>
                  <a:defRPr b="1" i="0" strike="noStrike" sz="1600" u="none">
                    <a:solidFill>
                      <a:srgbClr val="FFFFFF"/>
                    </a:solidFill>
                    <a:latin typeface="+mn-lt"/>
                  </a:defRPr>
                </a:pPr>
              </a:p>
            </c:txPr>
            <c:dLblPos val="ctr"/>
            <c:showLegendKey val="0"/>
            <c:showVal val="1"/>
            <c:showCatName val="0"/>
            <c:showSerName val="0"/>
            <c:showPercent val="0"/>
            <c:showBubbleSize val="0"/>
            <c:showLeaderLines val="0"/>
          </c:dLbls>
          <c:cat>
            <c:multiLvlStrRef>
              <c:f>Sheet1!$A$2:$A$2</c:f>
              <c:multiLvlStrCache>
                <c:ptCount val="1"/>
                <c:lvl>
                  <c:pt idx="0">
                    <c:v>Tiempo</c:v>
                  </c:pt>
                </c:lvl>
              </c:multiLvlStrCache>
            </c:multiLvlStrRef>
          </c:cat>
          <c:val>
            <c:numRef>
              <c:f>Sheet1!$C$2:$C$2</c:f>
              <c:numCache>
                <c:formatCode>General</c:formatCode>
                <c:ptCount val="1"/>
                <c:pt idx="0">
                  <c:v>40</c:v>
                </c:pt>
              </c:numCache>
            </c:numRef>
          </c:val>
        </c:ser>
        <c:dLbls>
          <c:numFmt formatCode="#,##0" sourceLinked="0"/>
          <c:txPr>
            <a:bodyPr/>
            <a:lstStyle/>
            <a:p>
              <a:pPr>
                <a:defRPr b="1" i="0" strike="noStrike" sz="1600" u="none">
                  <a:solidFill>
                    <a:srgbClr val="FFFFFF"/>
                  </a:solidFill>
                  <a:latin typeface="+mn-lt"/>
                </a:defRPr>
              </a:pPr>
            </a:p>
          </c:txPr>
          <c:dLblPos val="ctr"/>
          <c:showLegendKey val="0"/>
          <c:showVal val="1"/>
          <c:showCatName val="0"/>
          <c:showSerName val="0"/>
          <c:showPercent val="0"/>
          <c:showBubbleSize val="0"/>
          <c:showLeaderLines val="0"/>
        </c:dLbls>
        <c:gapWidth val="40"/>
        <c:overlap val="100"/>
        <c:axId val="2094734554"/>
        <c:axId val="2094734552"/>
        <c:axId val="2094734556"/>
      </c:barChart>
      <c:catAx>
        <c:axId val="2094734554"/>
        <c:scaling>
          <c:orientation val="minMax"/>
        </c:scaling>
        <c:delete val="1"/>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3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300">
              <a:solidFill>
                <a:srgbClr val="6F635B"/>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resumen ejecutivo del rincón de lectura fotorrealista. Se rehízo la escena en Blender 5.2 siguiendo las especificaciones de fotorrealismo del PRD. Todo se generó por código dentro de Blender, sin descargar nada de internet, y el render final se hizo en 4 cámaras a 4K. La imagen es un detalle de uno de esos renders.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se hizo. Se rehízo la escena del rincón de lectura en Blender 5.2, de cero. Tres puntos clave: sigue las especificaciones de fotorrealismo del PRD; todo se generó por código dentro de Blender, sin descargar nada de internet; y el render final se hizo desde 4 cámaras, cada una en 4K. A la derecha, la vista general del resultado.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resultado. Dos de las cuatro cámaras: la vista general, con la estantería, el sillón, la lámpara de lectura y la ventana; y un plano más abierto de la sala, donde se ve la luz de la ventana sobre el piso de madera.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otras dos cámaras: un primer plano de la mesita con la lámpara encendida, la taza y los libros; y un encuadre del sillón con la lámpara, el cuadro y la planta junto a la ventana.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El trabajo activo, es decir construir, corregir y ajustar, tomó cerca de una hora y 35 minutos. El render final de las 4 cámaras en 4K fueron unos 40 minutos de cómputo. En total, poco más de 2 horas de trabajo real: alrededor del 70 % fue trabajo activo y el 30 % render.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Costo. No hay una cifra exacta de créditos para esta tarea en particular. La razón es que la cuenta es Enterprise y la facturación se hace a nivel de toda la organización, no por proyecto. Si se necesita el dato, hay que pedirlo a quien administra la cuenta.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Tamaño. La escena tiene unos 394.000 triángulos en total. El archivo .blend pesa solo 2,5 MB, porque todo es procedural y no hay texturas pesadas. Los renders sí pesan: 2,5 GB en total, pero eso es la salida de imágenes, no el modelo. Es decir, los renders pesan unas mil veces más que la escena.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puede optimizar, y bastante. El hallazgo más claro: 6 de cada 10 triángulos de toda la escena son árboles de fondo que apenas se ven por la ventana, como muestra el recorte. El problema es que cada árbol tiene su propia malla repetida en vez de reusar una sola base. Si se reusa una única malla base, hay un margen grande para aligerar la escena sin que se note en el render.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se construyó. No se usó ningún servidor ni add-on de Blender conectado por red, es decir, sin MCP. Todo se hizo en modo headless: un script de Python abre Blender sin interfaz, construye la escena de cero, la renderiza y se cierra. Para corregir algo, se ajustaba el código, se volvía a correr y se miraba el resultado en una imagen cada vez. Es un flujo cien por ciento reproducible y sin dependencias externas.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resumen: poco más de 2 horas de trabajo real, entre trabajo activo y render. Un archivo liviano de 2,5 MB, totalmente procedural. El 60 % de los triángulos son árboles de fondo, que es el hallazgo más claro para aligerar. Y un flujo 100 % reproducible, con un script de Python y Blender sin interfaz, sin MCP ni descargas. El siguiente paso sugerido es reusar una malla base para los árboles de fondo.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417320"/>
            <a:ext cx="4754880" cy="365760"/>
          </a:xfrm>
          <a:prstGeom prst="rect">
            <a:avLst/>
          </a:prstGeom>
          <a:noFill/>
          <a:ln/>
        </p:spPr>
        <p:txBody>
          <a:bodyPr wrap="square" rtlCol="0"/>
          <a:lstStyle>
            <a:lvl1pPr indent="0" marL="0">
              <a:buNone/>
              <a:defRPr lang="en-US" sz="1300" b="1" spc="300" kern="0" dirty="0">
                <a:solidFill>
                  <a:schemeClr val="accent4"/>
                </a:solidFill>
              </a:defRPr>
            </a:lvl1pPr>
          </a:lstStyle>
          <a:p>
            <a:pPr indent="0" marL="0">
              <a:buNone/>
            </a:pPr>
            <a:endParaRPr lang="en-US" sz="1300" dirty="0"/>
          </a:p>
        </p:txBody>
      </p:sp>
      <p:sp>
        <p:nvSpPr>
          <p:cNvPr id="3" name="Text 0"/>
          <p:cNvSpPr/>
          <p:nvPr>
            <p:ph idx="101" type="title" hasCustomPrompt="1"/>
          </p:nvPr>
        </p:nvSpPr>
        <p:spPr>
          <a:xfrm>
            <a:off x="731520" y="1874520"/>
            <a:ext cx="4754880" cy="1920240"/>
          </a:xfrm>
          <a:prstGeom prst="rect">
            <a:avLst/>
          </a:prstGeom>
          <a:noFill/>
          <a:ln/>
        </p:spPr>
        <p:txBody>
          <a:bodyPr wrap="square" rtlCol="0"/>
          <a:lstStyle>
            <a:lvl1pPr algn="l" indent="0" marL="0">
              <a:buNone/>
              <a:defRPr lang="en-US" sz="4600" b="1" dirty="0">
                <a:solidFill>
                  <a:schemeClr val="bg1"/>
                </a:solidFill>
              </a:defRPr>
            </a:lvl1pPr>
          </a:lstStyle>
          <a:p>
            <a:pPr algn="l" indent="0" marL="0">
              <a:buNone/>
            </a:pPr>
            <a:endParaRPr lang="en-US" sz="4600" dirty="0"/>
          </a:p>
        </p:txBody>
      </p:sp>
      <p:sp>
        <p:nvSpPr>
          <p:cNvPr id="4" name="Text 0"/>
          <p:cNvSpPr/>
          <p:nvPr>
            <p:ph idx="102" type="body" hasCustomPrompt="1"/>
          </p:nvPr>
        </p:nvSpPr>
        <p:spPr>
          <a:xfrm>
            <a:off x="731520" y="3931920"/>
            <a:ext cx="4572000" cy="1280160"/>
          </a:xfrm>
          <a:prstGeom prst="rect">
            <a:avLst/>
          </a:prstGeom>
          <a:noFill/>
          <a:ln/>
        </p:spPr>
        <p:txBody>
          <a:bodyPr wrap="square" rtlCol="0"/>
          <a:lstStyle>
            <a:lvl1pPr indent="0" marL="0">
              <a:buNone/>
              <a:defRPr lang="en-US" sz="1700" dirty="0">
                <a:solidFill>
                  <a:schemeClr val="bg2"/>
                </a:solidFill>
              </a:defRPr>
            </a:lvl1pPr>
          </a:lstStyle>
          <a:p>
            <a:pPr indent="0" marL="0">
              <a:buNone/>
            </a:pPr>
            <a:endParaRPr lang="en-US" sz="17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3" name="Text 0"/>
          <p:cNvSpPr/>
          <p:nvPr/>
        </p:nvSpPr>
        <p:spPr>
          <a:xfrm>
            <a:off x="548640" y="6382512"/>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Rincón de lectura fotorrealista · Resumen ejecutivo</a:t>
            </a:r>
            <a:endParaRPr lang="en-US" sz="10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OSCURO">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nvSpPr>
        <p:spPr>
          <a:xfrm>
            <a:off x="548640" y="6382512"/>
            <a:ext cx="7315200" cy="274320"/>
          </a:xfrm>
          <a:prstGeom prst="rect">
            <a:avLst/>
          </a:prstGeom>
          <a:noFill/>
          <a:ln/>
        </p:spPr>
        <p:txBody>
          <a:bodyPr wrap="square" lIns="0" tIns="0" rIns="0" bIns="0" rtlCol="0" anchor="ctr"/>
          <a:lstStyle/>
          <a:p>
            <a:pPr indent="0" marL="0">
              <a:buNone/>
            </a:pPr>
            <a:r>
              <a:rPr lang="en-US" sz="1000" dirty="0">
                <a:solidFill>
                  <a:schemeClr val="accent6"/>
                </a:solidFill>
              </a:rPr>
              <a:t>Rincón de lectura fotorrealista · Resumen ejecutivo</a:t>
            </a:r>
            <a:endParaRPr lang="en-US" sz="10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jp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jpg"/><Relationship Id="rId3" Type="http://schemas.openxmlformats.org/officeDocument/2006/relationships/slideLayout" Target="../slideLayouts/slideLayout4.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jpg"/><Relationship Id="rId3" Type="http://schemas.openxmlformats.org/officeDocument/2006/relationships/slideLayout" Target="../slideLayouts/slideLayout4.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image" Target="../media/image-8-13.png"/><Relationship Id="rId14" Type="http://schemas.openxmlformats.org/officeDocument/2006/relationships/image" Target="../media/image-8-14.png"/><Relationship Id="rId15" Type="http://schemas.openxmlformats.org/officeDocument/2006/relationships/slideLayout" Target="../slideLayouts/slideLayout3.xml"/><Relationship Id="rId1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slideLayout" Target="../slideLayouts/slideLayout3.xml"/><Relationship Id="rId1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4.xml"/><Relationship Id="rId7"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n de portada" descr="Detalle del render: lámpara de mesa encendida sobre una mesita redonda, con una taza y dos libros">    </p:cNvPr>
          <p:cNvPicPr>
            <a:picLocks noChangeAspect="1"/>
          </p:cNvPicPr>
          <p:nvPr/>
        </p:nvPicPr>
        <p:blipFill>
          <a:blip r:embed="rId1"/>
          <a:stretch>
            <a:fillRect/>
          </a:stretch>
        </p:blipFill>
        <p:spPr>
          <a:xfrm>
            <a:off x="5669280" y="0"/>
            <a:ext cx="6522415" cy="6858000"/>
          </a:xfrm>
          <a:prstGeom prst="rect">
            <a:avLst/>
          </a:prstGeom>
        </p:spPr>
      </p:pic>
      <p:sp>
        <p:nvSpPr>
          <p:cNvPr id="3" name="Text 0"/>
          <p:cNvSpPr/>
          <p:nvPr>
            <p:ph idx="100" type="body" hasCustomPrompt="1"/>
          </p:nvPr>
        </p:nvSpPr>
        <p:spPr>
          <a:xfrm>
            <a:off x="731520" y="1417320"/>
            <a:ext cx="4754880" cy="365760"/>
          </a:xfrm>
          <a:prstGeom prst="rect">
            <a:avLst/>
          </a:prstGeom>
          <a:noFill/>
          <a:ln/>
        </p:spPr>
        <p:txBody>
          <a:bodyPr wrap="square" lIns="0" tIns="0" rIns="0" bIns="0" rtlCol="0"/>
          <a:lstStyle/>
          <a:p>
            <a:pPr indent="0" marL="0">
              <a:buNone/>
            </a:pPr>
            <a:r>
              <a:rPr lang="en-US" sz="1300" b="1" spc="300" kern="0" dirty="0">
                <a:solidFill>
                  <a:schemeClr val="accent4"/>
                </a:solidFill>
              </a:rPr>
              <a:t>RESUMEN EJECUTIVO · BLENDER 5.2</a:t>
            </a:r>
            <a:endParaRPr lang="en-US" sz="1300" dirty="0"/>
          </a:p>
        </p:txBody>
      </p:sp>
      <p:sp>
        <p:nvSpPr>
          <p:cNvPr id="4" name="Text 0"/>
          <p:cNvSpPr/>
          <p:nvPr>
            <p:ph idx="101" type="title" hasCustomPrompt="1"/>
          </p:nvPr>
        </p:nvSpPr>
        <p:spPr>
          <a:xfrm>
            <a:off x="731520" y="1874520"/>
            <a:ext cx="4754880" cy="1920240"/>
          </a:xfrm>
          <a:prstGeom prst="rect">
            <a:avLst/>
          </a:prstGeom>
          <a:noFill/>
          <a:ln/>
        </p:spPr>
        <p:txBody>
          <a:bodyPr wrap="square" lIns="0" tIns="0" rIns="0" bIns="0" rtlCol="0" anchor="t"/>
          <a:lstStyle/>
          <a:p>
            <a:pPr algn="l" indent="0" marL="0">
              <a:buNone/>
            </a:pPr>
            <a:r>
              <a:rPr lang="en-US" sz="4600" b="1" dirty="0">
                <a:solidFill>
                  <a:schemeClr val="bg1"/>
                </a:solidFill>
              </a:rPr>
              <a:t>Rincón de lectura fotorrealista</a:t>
            </a:r>
            <a:endParaRPr lang="en-US" sz="4600" dirty="0"/>
          </a:p>
        </p:txBody>
      </p:sp>
      <p:sp>
        <p:nvSpPr>
          <p:cNvPr id="5" name="Text 0"/>
          <p:cNvSpPr/>
          <p:nvPr>
            <p:ph idx="102" type="body" hasCustomPrompt="1"/>
          </p:nvPr>
        </p:nvSpPr>
        <p:spPr>
          <a:xfrm>
            <a:off x="731520" y="3931920"/>
            <a:ext cx="4572000" cy="1280160"/>
          </a:xfrm>
          <a:prstGeom prst="rect">
            <a:avLst/>
          </a:prstGeom>
          <a:noFill/>
          <a:ln/>
        </p:spPr>
        <p:txBody>
          <a:bodyPr wrap="square" lIns="0" tIns="0" rIns="0" bIns="0" rtlCol="0" anchor="t"/>
          <a:lstStyle/>
          <a:p>
            <a:pPr indent="0" marL="0">
              <a:buNone/>
            </a:pPr>
            <a:r>
              <a:rPr lang="en-US" sz="1700" dirty="0">
                <a:solidFill>
                  <a:schemeClr val="bg2"/>
                </a:solidFill>
              </a:rPr>
              <a:t>Escena rehecha según las especificaciones de fotorrealismo del PRD, generada íntegramente por código y renderizada en 4 cámaras a 4K.</a:t>
            </a:r>
            <a:endParaRPr lang="en-US" sz="1700" dirty="0"/>
          </a:p>
        </p:txBody>
      </p:sp>
      <p:sp>
        <p:nvSpPr>
          <p:cNvPr id="6" name="Etiquetas"/>
          <p:cNvSpPr txBox="1"/>
          <p:nvPr/>
        </p:nvSpPr>
        <p:spPr>
          <a:xfrm>
            <a:off x="731520" y="5440680"/>
            <a:ext cx="4754880" cy="365760"/>
          </a:xfrm>
          <a:prstGeom prst="rect">
            <a:avLst/>
          </a:prstGeom>
          <a:noFill/>
          <a:ln/>
        </p:spPr>
        <p:txBody>
          <a:bodyPr wrap="square" lIns="0" tIns="0" rIns="0" bIns="0" rtlCol="0" anchor="ctr"/>
          <a:lstStyle/>
          <a:p>
            <a:pPr indent="0" marL="0">
              <a:buNone/>
            </a:pPr>
            <a:r>
              <a:rPr lang="en-US" sz="1400" b="1" dirty="0">
                <a:solidFill>
                  <a:schemeClr val="accent4"/>
                </a:solidFill>
              </a:rPr>
              <a:t>100 % código  ·  Sin descargas  ·  4 cámaras en 4K</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Una escena nueva, hecha 100 % con código</a:t>
            </a:r>
            <a:endParaRPr lang="en-US" sz="3600" dirty="0"/>
          </a:p>
        </p:txBody>
      </p:sp>
      <p:sp>
        <p:nvSpPr>
          <p:cNvPr id="3" name="Introducción"/>
          <p:cNvSpPr txBox="1"/>
          <p:nvPr/>
        </p:nvSpPr>
        <p:spPr>
          <a:xfrm>
            <a:off x="548640" y="1463040"/>
            <a:ext cx="5120640" cy="777240"/>
          </a:xfrm>
          <a:prstGeom prst="rect">
            <a:avLst/>
          </a:prstGeom>
          <a:noFill/>
          <a:ln/>
        </p:spPr>
        <p:txBody>
          <a:bodyPr wrap="square" lIns="0" tIns="0" rIns="0" bIns="0" rtlCol="0" anchor="t"/>
          <a:lstStyle/>
          <a:p>
            <a:pPr indent="0" marL="0">
              <a:buNone/>
            </a:pPr>
            <a:r>
              <a:rPr lang="en-US" sz="1600" dirty="0">
                <a:solidFill>
                  <a:schemeClr val="accent5"/>
                </a:solidFill>
              </a:rPr>
              <a:t>Se rehízo la escena «rincón de lectura» en Blender 5.2, construida de cero.</a:t>
            </a:r>
            <a:endParaRPr lang="en-US" sz="1600" dirty="0"/>
          </a:p>
        </p:txBody>
      </p:sp>
      <p:sp>
        <p:nvSpPr>
          <p:cNvPr id="4" name="Icono Fotorrealismo según el PRD (círculo)"/>
          <p:cNvSpPr/>
          <p:nvPr/>
        </p:nvSpPr>
        <p:spPr>
          <a:xfrm>
            <a:off x="548640" y="2423160"/>
            <a:ext cx="640080" cy="640080"/>
          </a:xfrm>
          <a:prstGeom prst="ellipse">
            <a:avLst/>
          </a:prstGeom>
          <a:solidFill>
            <a:schemeClr val="accent1"/>
          </a:solidFill>
          <a:ln/>
        </p:spPr>
      </p:sp>
      <p:pic>
        <p:nvPicPr>
          <p:cNvPr id="5" name="Icono Fotorrealismo según el PRD" descr="Icono Fotorrealismo según el PRD">    </p:cNvPr>
          <p:cNvPicPr>
            <a:picLocks noChangeAspect="1"/>
          </p:cNvPicPr>
          <p:nvPr/>
        </p:nvPicPr>
        <p:blipFill>
          <a:blip r:embed="rId1"/>
          <a:stretch>
            <a:fillRect/>
          </a:stretch>
        </p:blipFill>
        <p:spPr>
          <a:xfrm>
            <a:off x="721462" y="2595982"/>
            <a:ext cx="294437" cy="294437"/>
          </a:xfrm>
          <a:prstGeom prst="rect">
            <a:avLst/>
          </a:prstGeom>
        </p:spPr>
      </p:pic>
      <p:sp>
        <p:nvSpPr>
          <p:cNvPr id="6" name="Fotorrealismo según el PRD"/>
          <p:cNvSpPr txBox="1"/>
          <p:nvPr/>
        </p:nvSpPr>
        <p:spPr>
          <a:xfrm>
            <a:off x="1417320" y="2377440"/>
            <a:ext cx="4251960" cy="1005840"/>
          </a:xfrm>
          <a:prstGeom prst="rect">
            <a:avLst/>
          </a:prstGeom>
          <a:noFill/>
          <a:ln/>
        </p:spPr>
        <p:txBody>
          <a:bodyPr wrap="square" lIns="0" tIns="0" rIns="0" bIns="0" rtlCol="0" anchor="t"/>
          <a:lstStyle/>
          <a:p>
            <a:pPr indent="0" marL="0">
              <a:spcAft>
                <a:spcPts val="400"/>
              </a:spcAft>
              <a:buNone/>
            </a:pPr>
            <a:r>
              <a:rPr lang="en-US" sz="1800" b="1" dirty="0">
                <a:solidFill>
                  <a:schemeClr val="tx1"/>
                </a:solidFill>
              </a:rPr>
              <a:t>Fotorrealismo según el PRD</a:t>
            </a:r>
            <a:endParaRPr lang="en-US" sz="1800" dirty="0"/>
          </a:p>
          <a:p>
            <a:pPr indent="0" marL="0">
              <a:spcAft>
                <a:spcPts val="400"/>
              </a:spcAft>
              <a:buNone/>
            </a:pPr>
            <a:r>
              <a:rPr lang="en-US" sz="1400" dirty="0">
                <a:solidFill>
                  <a:schemeClr val="accent5"/>
                </a:solidFill>
              </a:rPr>
              <a:t>La escena sigue las especificaciones de fotorrealismo definidas en el PRD.</a:t>
            </a:r>
            <a:endParaRPr lang="en-US" sz="1800" dirty="0"/>
          </a:p>
        </p:txBody>
      </p:sp>
      <p:sp>
        <p:nvSpPr>
          <p:cNvPr id="7" name="Icono Todo generado por código (círculo)"/>
          <p:cNvSpPr/>
          <p:nvPr/>
        </p:nvSpPr>
        <p:spPr>
          <a:xfrm>
            <a:off x="548640" y="3611880"/>
            <a:ext cx="640080" cy="640080"/>
          </a:xfrm>
          <a:prstGeom prst="ellipse">
            <a:avLst/>
          </a:prstGeom>
          <a:solidFill>
            <a:schemeClr val="accent1"/>
          </a:solidFill>
          <a:ln/>
        </p:spPr>
      </p:sp>
      <p:pic>
        <p:nvPicPr>
          <p:cNvPr id="8" name="Icono Todo generado por código" descr="Icono Todo generado por código">    </p:cNvPr>
          <p:cNvPicPr>
            <a:picLocks noChangeAspect="1"/>
          </p:cNvPicPr>
          <p:nvPr/>
        </p:nvPicPr>
        <p:blipFill>
          <a:blip r:embed="rId2"/>
          <a:stretch>
            <a:fillRect/>
          </a:stretch>
        </p:blipFill>
        <p:spPr>
          <a:xfrm>
            <a:off x="721462" y="3784702"/>
            <a:ext cx="294437" cy="294437"/>
          </a:xfrm>
          <a:prstGeom prst="rect">
            <a:avLst/>
          </a:prstGeom>
        </p:spPr>
      </p:pic>
      <p:sp>
        <p:nvSpPr>
          <p:cNvPr id="9" name="Todo generado por código"/>
          <p:cNvSpPr txBox="1"/>
          <p:nvPr/>
        </p:nvSpPr>
        <p:spPr>
          <a:xfrm>
            <a:off x="1417320" y="3566160"/>
            <a:ext cx="4251960" cy="1005840"/>
          </a:xfrm>
          <a:prstGeom prst="rect">
            <a:avLst/>
          </a:prstGeom>
          <a:noFill/>
          <a:ln/>
        </p:spPr>
        <p:txBody>
          <a:bodyPr wrap="square" lIns="0" tIns="0" rIns="0" bIns="0" rtlCol="0" anchor="t"/>
          <a:lstStyle/>
          <a:p>
            <a:pPr indent="0" marL="0">
              <a:spcAft>
                <a:spcPts val="400"/>
              </a:spcAft>
              <a:buNone/>
            </a:pPr>
            <a:r>
              <a:rPr lang="en-US" sz="1800" b="1" dirty="0">
                <a:solidFill>
                  <a:schemeClr val="tx1"/>
                </a:solidFill>
              </a:rPr>
              <a:t>Todo generado por código</a:t>
            </a:r>
            <a:endParaRPr lang="en-US" sz="1800" dirty="0"/>
          </a:p>
          <a:p>
            <a:pPr indent="0" marL="0">
              <a:spcAft>
                <a:spcPts val="400"/>
              </a:spcAft>
              <a:buNone/>
            </a:pPr>
            <a:r>
              <a:rPr lang="en-US" sz="1400" dirty="0">
                <a:solidFill>
                  <a:schemeClr val="accent5"/>
                </a:solidFill>
              </a:rPr>
              <a:t>Construida dentro de Blender, sin descargar nada de internet.</a:t>
            </a:r>
            <a:endParaRPr lang="en-US" sz="1800" dirty="0"/>
          </a:p>
        </p:txBody>
      </p:sp>
      <p:sp>
        <p:nvSpPr>
          <p:cNvPr id="10" name="Icono Render final: 4 cámaras en 4K (círculo)"/>
          <p:cNvSpPr/>
          <p:nvPr/>
        </p:nvSpPr>
        <p:spPr>
          <a:xfrm>
            <a:off x="548640" y="4800600"/>
            <a:ext cx="640080" cy="640080"/>
          </a:xfrm>
          <a:prstGeom prst="ellipse">
            <a:avLst/>
          </a:prstGeom>
          <a:solidFill>
            <a:schemeClr val="accent1"/>
          </a:solidFill>
          <a:ln/>
        </p:spPr>
      </p:sp>
      <p:pic>
        <p:nvPicPr>
          <p:cNvPr id="11" name="Icono Render final: 4 cámaras en 4K" descr="Icono Render final: 4 cámaras en 4K">    </p:cNvPr>
          <p:cNvPicPr>
            <a:picLocks noChangeAspect="1"/>
          </p:cNvPicPr>
          <p:nvPr/>
        </p:nvPicPr>
        <p:blipFill>
          <a:blip r:embed="rId3"/>
          <a:stretch>
            <a:fillRect/>
          </a:stretch>
        </p:blipFill>
        <p:spPr>
          <a:xfrm>
            <a:off x="721462" y="4973422"/>
            <a:ext cx="294437" cy="294437"/>
          </a:xfrm>
          <a:prstGeom prst="rect">
            <a:avLst/>
          </a:prstGeom>
        </p:spPr>
      </p:pic>
      <p:sp>
        <p:nvSpPr>
          <p:cNvPr id="12" name="Render final: 4 cámaras en 4K"/>
          <p:cNvSpPr txBox="1"/>
          <p:nvPr/>
        </p:nvSpPr>
        <p:spPr>
          <a:xfrm>
            <a:off x="1417320" y="4754880"/>
            <a:ext cx="4251960" cy="1005840"/>
          </a:xfrm>
          <a:prstGeom prst="rect">
            <a:avLst/>
          </a:prstGeom>
          <a:noFill/>
          <a:ln/>
        </p:spPr>
        <p:txBody>
          <a:bodyPr wrap="square" lIns="0" tIns="0" rIns="0" bIns="0" rtlCol="0" anchor="t"/>
          <a:lstStyle/>
          <a:p>
            <a:pPr indent="0" marL="0">
              <a:spcAft>
                <a:spcPts val="400"/>
              </a:spcAft>
              <a:buNone/>
            </a:pPr>
            <a:r>
              <a:rPr lang="en-US" sz="1800" b="1" dirty="0">
                <a:solidFill>
                  <a:schemeClr val="tx1"/>
                </a:solidFill>
              </a:rPr>
              <a:t>Render final: 4 cámaras en 4K</a:t>
            </a:r>
            <a:endParaRPr lang="en-US" sz="1800" dirty="0"/>
          </a:p>
          <a:p>
            <a:pPr indent="0" marL="0">
              <a:spcAft>
                <a:spcPts val="400"/>
              </a:spcAft>
              <a:buNone/>
            </a:pPr>
            <a:r>
              <a:rPr lang="en-US" sz="1400" dirty="0">
                <a:solidFill>
                  <a:schemeClr val="accent5"/>
                </a:solidFill>
              </a:rPr>
              <a:t>Cuatro puntos de vista, cada uno renderizado en resolución 4K.</a:t>
            </a:r>
            <a:endParaRPr lang="en-US" sz="1800" dirty="0"/>
          </a:p>
        </p:txBody>
      </p:sp>
      <p:pic>
        <p:nvPicPr>
          <p:cNvPr id="13" name="Render vista general" descr="Render de la vista general: estantería con libros, sillón mostaza, mesita con lámpara, cuadro, ventana y planta">    </p:cNvPr>
          <p:cNvPicPr>
            <a:picLocks noChangeAspect="1"/>
          </p:cNvPicPr>
          <p:nvPr/>
        </p:nvPicPr>
        <p:blipFill>
          <a:blip r:embed="rId4"/>
          <a:stretch>
            <a:fillRect/>
          </a:stretch>
        </p:blipFill>
        <p:spPr>
          <a:xfrm>
            <a:off x="5989320" y="1508760"/>
            <a:ext cx="5650992" cy="3182112"/>
          </a:xfrm>
          <a:prstGeom prst="rect">
            <a:avLst/>
          </a:prstGeom>
        </p:spPr>
      </p:pic>
      <p:sp>
        <p:nvSpPr>
          <p:cNvPr id="14" name="Pie de imagen"/>
          <p:cNvSpPr txBox="1"/>
          <p:nvPr/>
        </p:nvSpPr>
        <p:spPr>
          <a:xfrm>
            <a:off x="5989320" y="4800600"/>
            <a:ext cx="5650992" cy="274320"/>
          </a:xfrm>
          <a:prstGeom prst="rect">
            <a:avLst/>
          </a:prstGeom>
          <a:noFill/>
          <a:ln/>
        </p:spPr>
        <p:txBody>
          <a:bodyPr wrap="square" lIns="0" tIns="0" rIns="0" bIns="0" rtlCol="0" anchor="ctr"/>
          <a:lstStyle/>
          <a:p>
            <a:pPr indent="0" marL="0">
              <a:buNone/>
            </a:pPr>
            <a:r>
              <a:rPr lang="en-US" sz="1100" dirty="0">
                <a:solidFill>
                  <a:schemeClr val="accent5"/>
                </a:solidFill>
              </a:rPr>
              <a:t>Vista general del render final.</a:t>
            </a:r>
            <a:endParaRPr lang="en-US" sz="11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600" b="1" dirty="0">
                <a:solidFill>
                  <a:schemeClr val="bg1"/>
                </a:solidFill>
              </a:rPr>
              <a:t>El resultado: vista general del rincón</a:t>
            </a:r>
            <a:endParaRPr lang="en-US" sz="3600" dirty="0"/>
          </a:p>
        </p:txBody>
      </p:sp>
      <p:pic>
        <p:nvPicPr>
          <p:cNvPr id="3" name="Render Vista general" descr="Render de la vista general del rincón de lectura">    </p:cNvPr>
          <p:cNvPicPr>
            <a:picLocks noChangeAspect="1"/>
          </p:cNvPicPr>
          <p:nvPr/>
        </p:nvPicPr>
        <p:blipFill>
          <a:blip r:embed="rId1"/>
          <a:stretch>
            <a:fillRect/>
          </a:stretch>
        </p:blipFill>
        <p:spPr>
          <a:xfrm>
            <a:off x="548640" y="1691640"/>
            <a:ext cx="5387188" cy="3030293"/>
          </a:xfrm>
          <a:prstGeom prst="rect">
            <a:avLst/>
          </a:prstGeom>
        </p:spPr>
      </p:pic>
      <p:sp>
        <p:nvSpPr>
          <p:cNvPr id="4" name="Pie Vista general"/>
          <p:cNvSpPr txBox="1"/>
          <p:nvPr/>
        </p:nvSpPr>
        <p:spPr>
          <a:xfrm>
            <a:off x="548640" y="4904813"/>
            <a:ext cx="5387188" cy="777240"/>
          </a:xfrm>
          <a:prstGeom prst="rect">
            <a:avLst/>
          </a:prstGeom>
          <a:noFill/>
          <a:ln/>
        </p:spPr>
        <p:txBody>
          <a:bodyPr wrap="square" lIns="0" tIns="0" rIns="0" bIns="0" rtlCol="0" anchor="t"/>
          <a:lstStyle/>
          <a:p>
            <a:pPr indent="0" marL="0">
              <a:spcAft>
                <a:spcPts val="300"/>
              </a:spcAft>
              <a:buNone/>
            </a:pPr>
            <a:r>
              <a:rPr lang="en-US" sz="1600" b="1" dirty="0">
                <a:solidFill>
                  <a:schemeClr val="accent4"/>
                </a:solidFill>
              </a:rPr>
              <a:t>Vista general</a:t>
            </a:r>
            <a:endParaRPr lang="en-US" sz="1600" dirty="0"/>
          </a:p>
          <a:p>
            <a:pPr indent="0" marL="0">
              <a:spcAft>
                <a:spcPts val="300"/>
              </a:spcAft>
              <a:buNone/>
            </a:pPr>
            <a:r>
              <a:rPr lang="en-US" sz="1400" dirty="0">
                <a:solidFill>
                  <a:schemeClr val="bg2"/>
                </a:solidFill>
              </a:rPr>
              <a:t>Estantería, sillón, lámpara de lectura y ventana con árboles de fondo.</a:t>
            </a:r>
            <a:endParaRPr lang="en-US" sz="1600" dirty="0"/>
          </a:p>
        </p:txBody>
      </p:sp>
      <p:pic>
        <p:nvPicPr>
          <p:cNvPr id="5" name="Render Plano abierto" descr="Render en plano abierto de la sala con la luz de la ventana sobre el piso">    </p:cNvPr>
          <p:cNvPicPr>
            <a:picLocks noChangeAspect="1"/>
          </p:cNvPicPr>
          <p:nvPr/>
        </p:nvPicPr>
        <p:blipFill>
          <a:blip r:embed="rId2"/>
          <a:stretch>
            <a:fillRect/>
          </a:stretch>
        </p:blipFill>
        <p:spPr>
          <a:xfrm>
            <a:off x="6255868" y="1691640"/>
            <a:ext cx="5387188" cy="3030293"/>
          </a:xfrm>
          <a:prstGeom prst="rect">
            <a:avLst/>
          </a:prstGeom>
        </p:spPr>
      </p:pic>
      <p:sp>
        <p:nvSpPr>
          <p:cNvPr id="6" name="Pie Plano abierto"/>
          <p:cNvSpPr txBox="1"/>
          <p:nvPr/>
        </p:nvSpPr>
        <p:spPr>
          <a:xfrm>
            <a:off x="6255868" y="4904813"/>
            <a:ext cx="5387188" cy="777240"/>
          </a:xfrm>
          <a:prstGeom prst="rect">
            <a:avLst/>
          </a:prstGeom>
          <a:noFill/>
          <a:ln/>
        </p:spPr>
        <p:txBody>
          <a:bodyPr wrap="square" lIns="0" tIns="0" rIns="0" bIns="0" rtlCol="0" anchor="t"/>
          <a:lstStyle/>
          <a:p>
            <a:pPr indent="0" marL="0">
              <a:spcAft>
                <a:spcPts val="300"/>
              </a:spcAft>
              <a:buNone/>
            </a:pPr>
            <a:r>
              <a:rPr lang="en-US" sz="1600" b="1" dirty="0">
                <a:solidFill>
                  <a:schemeClr val="accent4"/>
                </a:solidFill>
              </a:rPr>
              <a:t>Plano abierto</a:t>
            </a:r>
            <a:endParaRPr lang="en-US" sz="1600" dirty="0"/>
          </a:p>
          <a:p>
            <a:pPr indent="0" marL="0">
              <a:spcAft>
                <a:spcPts val="300"/>
              </a:spcAft>
              <a:buNone/>
            </a:pPr>
            <a:r>
              <a:rPr lang="en-US" sz="1400" dirty="0">
                <a:solidFill>
                  <a:schemeClr val="bg2"/>
                </a:solidFill>
              </a:rPr>
              <a:t>La sala completa, con la luz de la ventana dibujada sobre el piso de madera.</a:t>
            </a:r>
            <a:endParaRPr lang="en-US" sz="16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600" b="1" dirty="0">
                <a:solidFill>
                  <a:schemeClr val="bg1"/>
                </a:solidFill>
              </a:rPr>
              <a:t>El resultado: detalle, luz y ventana</a:t>
            </a:r>
            <a:endParaRPr lang="en-US" sz="3600" dirty="0"/>
          </a:p>
        </p:txBody>
      </p:sp>
      <p:pic>
        <p:nvPicPr>
          <p:cNvPr id="3" name="Render Detalle de la lámpara" descr="Render en primer plano de la lámpara encendida, una taza y dos libros sobre la mesita">    </p:cNvPr>
          <p:cNvPicPr>
            <a:picLocks noChangeAspect="1"/>
          </p:cNvPicPr>
          <p:nvPr/>
        </p:nvPicPr>
        <p:blipFill>
          <a:blip r:embed="rId1"/>
          <a:stretch>
            <a:fillRect/>
          </a:stretch>
        </p:blipFill>
        <p:spPr>
          <a:xfrm>
            <a:off x="548640" y="1691640"/>
            <a:ext cx="5387188" cy="3030293"/>
          </a:xfrm>
          <a:prstGeom prst="rect">
            <a:avLst/>
          </a:prstGeom>
        </p:spPr>
      </p:pic>
      <p:sp>
        <p:nvSpPr>
          <p:cNvPr id="4" name="Pie Detalle de la lámpara"/>
          <p:cNvSpPr txBox="1"/>
          <p:nvPr/>
        </p:nvSpPr>
        <p:spPr>
          <a:xfrm>
            <a:off x="548640" y="4904813"/>
            <a:ext cx="5387188" cy="777240"/>
          </a:xfrm>
          <a:prstGeom prst="rect">
            <a:avLst/>
          </a:prstGeom>
          <a:noFill/>
          <a:ln/>
        </p:spPr>
        <p:txBody>
          <a:bodyPr wrap="square" lIns="0" tIns="0" rIns="0" bIns="0" rtlCol="0" anchor="t"/>
          <a:lstStyle/>
          <a:p>
            <a:pPr indent="0" marL="0">
              <a:spcAft>
                <a:spcPts val="300"/>
              </a:spcAft>
              <a:buNone/>
            </a:pPr>
            <a:r>
              <a:rPr lang="en-US" sz="1600" b="1" dirty="0">
                <a:solidFill>
                  <a:schemeClr val="accent4"/>
                </a:solidFill>
              </a:rPr>
              <a:t>Detalle de la lámpara</a:t>
            </a:r>
            <a:endParaRPr lang="en-US" sz="1600" dirty="0"/>
          </a:p>
          <a:p>
            <a:pPr indent="0" marL="0">
              <a:spcAft>
                <a:spcPts val="300"/>
              </a:spcAft>
              <a:buNone/>
            </a:pPr>
            <a:r>
              <a:rPr lang="en-US" sz="1400" dirty="0">
                <a:solidFill>
                  <a:schemeClr val="bg2"/>
                </a:solidFill>
              </a:rPr>
              <a:t>Primer plano de la mesita: lámpara encendida, taza y libros.</a:t>
            </a:r>
            <a:endParaRPr lang="en-US" sz="1600" dirty="0"/>
          </a:p>
        </p:txBody>
      </p:sp>
      <p:pic>
        <p:nvPicPr>
          <p:cNvPr id="5" name="Render Sillón y ventana" descr="Render del sillón mostaza, la mesita con lámpara, un cuadro, la ventana y una planta">    </p:cNvPr>
          <p:cNvPicPr>
            <a:picLocks noChangeAspect="1"/>
          </p:cNvPicPr>
          <p:nvPr/>
        </p:nvPicPr>
        <p:blipFill>
          <a:blip r:embed="rId2"/>
          <a:stretch>
            <a:fillRect/>
          </a:stretch>
        </p:blipFill>
        <p:spPr>
          <a:xfrm>
            <a:off x="6255868" y="1691640"/>
            <a:ext cx="5387188" cy="3030293"/>
          </a:xfrm>
          <a:prstGeom prst="rect">
            <a:avLst/>
          </a:prstGeom>
        </p:spPr>
      </p:pic>
      <p:sp>
        <p:nvSpPr>
          <p:cNvPr id="6" name="Pie Sillón y ventana"/>
          <p:cNvSpPr txBox="1"/>
          <p:nvPr/>
        </p:nvSpPr>
        <p:spPr>
          <a:xfrm>
            <a:off x="6255868" y="4904813"/>
            <a:ext cx="5387188" cy="777240"/>
          </a:xfrm>
          <a:prstGeom prst="rect">
            <a:avLst/>
          </a:prstGeom>
          <a:noFill/>
          <a:ln/>
        </p:spPr>
        <p:txBody>
          <a:bodyPr wrap="square" lIns="0" tIns="0" rIns="0" bIns="0" rtlCol="0" anchor="t"/>
          <a:lstStyle/>
          <a:p>
            <a:pPr indent="0" marL="0">
              <a:spcAft>
                <a:spcPts val="300"/>
              </a:spcAft>
              <a:buNone/>
            </a:pPr>
            <a:r>
              <a:rPr lang="en-US" sz="1600" b="1" dirty="0">
                <a:solidFill>
                  <a:schemeClr val="accent4"/>
                </a:solidFill>
              </a:rPr>
              <a:t>Sillón y ventana</a:t>
            </a:r>
            <a:endParaRPr lang="en-US" sz="1600" dirty="0"/>
          </a:p>
          <a:p>
            <a:pPr indent="0" marL="0">
              <a:spcAft>
                <a:spcPts val="300"/>
              </a:spcAft>
              <a:buNone/>
            </a:pPr>
            <a:r>
              <a:rPr lang="en-US" sz="1400" dirty="0">
                <a:solidFill>
                  <a:schemeClr val="bg2"/>
                </a:solidFill>
              </a:rPr>
              <a:t>El sillón, la lámpara, el cuadro y la planta junto a la ventana.</a:t>
            </a:r>
            <a:endParaRPr lang="en-US" sz="16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Poco más de 2 horas de trabajo real</a:t>
            </a:r>
            <a:endParaRPr lang="en-US" sz="3600" dirty="0"/>
          </a:p>
        </p:txBody>
      </p:sp>
      <p:sp>
        <p:nvSpPr>
          <p:cNvPr id="3" name="Cifra ~1 h 35 min"/>
          <p:cNvSpPr txBox="1"/>
          <p:nvPr/>
        </p:nvSpPr>
        <p:spPr>
          <a:xfrm>
            <a:off x="548640" y="1554480"/>
            <a:ext cx="4206240" cy="731520"/>
          </a:xfrm>
          <a:prstGeom prst="rect">
            <a:avLst/>
          </a:prstGeom>
          <a:noFill/>
          <a:ln/>
        </p:spPr>
        <p:txBody>
          <a:bodyPr wrap="square" lIns="0" tIns="0" rIns="0" bIns="0" rtlCol="0" anchor="ctr"/>
          <a:lstStyle/>
          <a:p>
            <a:pPr indent="0" marL="0">
              <a:buNone/>
            </a:pPr>
            <a:r>
              <a:rPr lang="en-US" sz="4000" b="1" dirty="0">
                <a:solidFill>
                  <a:schemeClr val="tx1"/>
                </a:solidFill>
                <a:latin typeface="Cambria" pitchFamily="34" charset="0"/>
                <a:ea typeface="Cambria" pitchFamily="34" charset="-122"/>
                <a:cs typeface="Cambria" pitchFamily="34" charset="-120"/>
              </a:rPr>
              <a:t>~1 h 35 min</a:t>
            </a:r>
            <a:endParaRPr lang="en-US" sz="4000" dirty="0"/>
          </a:p>
        </p:txBody>
      </p:sp>
      <p:sp>
        <p:nvSpPr>
          <p:cNvPr id="4" name="Marca Trabajo activo: construir, corregir y ajustar"/>
          <p:cNvSpPr/>
          <p:nvPr/>
        </p:nvSpPr>
        <p:spPr>
          <a:xfrm>
            <a:off x="548640" y="2432304"/>
            <a:ext cx="164592" cy="164592"/>
          </a:xfrm>
          <a:prstGeom prst="ellipse">
            <a:avLst/>
          </a:prstGeom>
          <a:solidFill>
            <a:schemeClr val="accent1"/>
          </a:solidFill>
          <a:ln/>
        </p:spPr>
      </p:sp>
      <p:sp>
        <p:nvSpPr>
          <p:cNvPr id="5" name="Etiqueta ~1 h 35 min"/>
          <p:cNvSpPr txBox="1"/>
          <p:nvPr/>
        </p:nvSpPr>
        <p:spPr>
          <a:xfrm>
            <a:off x="822960" y="2331720"/>
            <a:ext cx="3931920" cy="411480"/>
          </a:xfrm>
          <a:prstGeom prst="rect">
            <a:avLst/>
          </a:prstGeom>
          <a:noFill/>
          <a:ln/>
        </p:spPr>
        <p:txBody>
          <a:bodyPr wrap="square" lIns="0" tIns="0" rIns="0" bIns="0" rtlCol="0" anchor="ctr"/>
          <a:lstStyle/>
          <a:p>
            <a:pPr indent="0" marL="0">
              <a:buNone/>
            </a:pPr>
            <a:r>
              <a:rPr lang="en-US" sz="1400" dirty="0">
                <a:solidFill>
                  <a:schemeClr val="accent5"/>
                </a:solidFill>
              </a:rPr>
              <a:t>Trabajo activo: construir, corregir y ajustar</a:t>
            </a:r>
            <a:endParaRPr lang="en-US" sz="1400" dirty="0"/>
          </a:p>
        </p:txBody>
      </p:sp>
      <p:sp>
        <p:nvSpPr>
          <p:cNvPr id="6" name="Cifra ~40 min"/>
          <p:cNvSpPr txBox="1"/>
          <p:nvPr/>
        </p:nvSpPr>
        <p:spPr>
          <a:xfrm>
            <a:off x="548640" y="3017520"/>
            <a:ext cx="4206240" cy="731520"/>
          </a:xfrm>
          <a:prstGeom prst="rect">
            <a:avLst/>
          </a:prstGeom>
          <a:noFill/>
          <a:ln/>
        </p:spPr>
        <p:txBody>
          <a:bodyPr wrap="square" lIns="0" tIns="0" rIns="0" bIns="0" rtlCol="0" anchor="ctr"/>
          <a:lstStyle/>
          <a:p>
            <a:pPr indent="0" marL="0">
              <a:buNone/>
            </a:pPr>
            <a:r>
              <a:rPr lang="en-US" sz="4000" b="1" dirty="0">
                <a:solidFill>
                  <a:schemeClr val="tx1"/>
                </a:solidFill>
                <a:latin typeface="Cambria" pitchFamily="34" charset="0"/>
                <a:ea typeface="Cambria" pitchFamily="34" charset="-122"/>
                <a:cs typeface="Cambria" pitchFamily="34" charset="-120"/>
              </a:rPr>
              <a:t>~40 min</a:t>
            </a:r>
            <a:endParaRPr lang="en-US" sz="4000" dirty="0"/>
          </a:p>
        </p:txBody>
      </p:sp>
      <p:sp>
        <p:nvSpPr>
          <p:cNvPr id="7" name="Marca Render final: las 4 cámaras en 4K (cómputo)"/>
          <p:cNvSpPr/>
          <p:nvPr/>
        </p:nvSpPr>
        <p:spPr>
          <a:xfrm>
            <a:off x="548640" y="3895344"/>
            <a:ext cx="164592" cy="164592"/>
          </a:xfrm>
          <a:prstGeom prst="ellipse">
            <a:avLst/>
          </a:prstGeom>
          <a:solidFill>
            <a:schemeClr val="accent2"/>
          </a:solidFill>
          <a:ln/>
        </p:spPr>
      </p:sp>
      <p:sp>
        <p:nvSpPr>
          <p:cNvPr id="8" name="Etiqueta ~40 min"/>
          <p:cNvSpPr txBox="1"/>
          <p:nvPr/>
        </p:nvSpPr>
        <p:spPr>
          <a:xfrm>
            <a:off x="822960" y="3794760"/>
            <a:ext cx="3931920" cy="411480"/>
          </a:xfrm>
          <a:prstGeom prst="rect">
            <a:avLst/>
          </a:prstGeom>
          <a:noFill/>
          <a:ln/>
        </p:spPr>
        <p:txBody>
          <a:bodyPr wrap="square" lIns="0" tIns="0" rIns="0" bIns="0" rtlCol="0" anchor="ctr"/>
          <a:lstStyle/>
          <a:p>
            <a:pPr indent="0" marL="0">
              <a:buNone/>
            </a:pPr>
            <a:r>
              <a:rPr lang="en-US" sz="1400" dirty="0">
                <a:solidFill>
                  <a:schemeClr val="accent5"/>
                </a:solidFill>
              </a:rPr>
              <a:t>Render final: las 4 cámaras en 4K (cómputo)</a:t>
            </a:r>
            <a:endParaRPr lang="en-US" sz="1400" dirty="0"/>
          </a:p>
        </p:txBody>
      </p:sp>
      <p:sp>
        <p:nvSpPr>
          <p:cNvPr id="9" name="Cifra ≈ 2 h 15 min"/>
          <p:cNvSpPr txBox="1"/>
          <p:nvPr/>
        </p:nvSpPr>
        <p:spPr>
          <a:xfrm>
            <a:off x="548640" y="4480560"/>
            <a:ext cx="4206240" cy="731520"/>
          </a:xfrm>
          <a:prstGeom prst="rect">
            <a:avLst/>
          </a:prstGeom>
          <a:noFill/>
          <a:ln/>
        </p:spPr>
        <p:txBody>
          <a:bodyPr wrap="square" lIns="0" tIns="0" rIns="0" bIns="0" rtlCol="0" anchor="ctr"/>
          <a:lstStyle/>
          <a:p>
            <a:pPr indent="0" marL="0">
              <a:buNone/>
            </a:pPr>
            <a:r>
              <a:rPr lang="en-US" sz="4000" b="1" dirty="0">
                <a:solidFill>
                  <a:schemeClr val="tx1"/>
                </a:solidFill>
                <a:latin typeface="Cambria" pitchFamily="34" charset="0"/>
                <a:ea typeface="Cambria" pitchFamily="34" charset="-122"/>
                <a:cs typeface="Cambria" pitchFamily="34" charset="-120"/>
              </a:rPr>
              <a:t>≈ 2 h 15 min</a:t>
            </a:r>
            <a:endParaRPr lang="en-US" sz="4000" dirty="0"/>
          </a:p>
        </p:txBody>
      </p:sp>
      <p:sp>
        <p:nvSpPr>
          <p:cNvPr id="10" name="Etiqueta ≈ 2 h 15 min"/>
          <p:cNvSpPr txBox="1"/>
          <p:nvPr/>
        </p:nvSpPr>
        <p:spPr>
          <a:xfrm>
            <a:off x="548640" y="5257800"/>
            <a:ext cx="4206240" cy="411480"/>
          </a:xfrm>
          <a:prstGeom prst="rect">
            <a:avLst/>
          </a:prstGeom>
          <a:noFill/>
          <a:ln/>
        </p:spPr>
        <p:txBody>
          <a:bodyPr wrap="square" lIns="0" tIns="0" rIns="0" bIns="0" rtlCol="0" anchor="ctr"/>
          <a:lstStyle/>
          <a:p>
            <a:pPr indent="0" marL="0">
              <a:buNone/>
            </a:pPr>
            <a:r>
              <a:rPr lang="en-US" sz="1400" dirty="0">
                <a:solidFill>
                  <a:schemeClr val="accent5"/>
                </a:solidFill>
              </a:rPr>
              <a:t>Total: poco más de 2 horas de trabajo real</a:t>
            </a:r>
            <a:endParaRPr lang="en-US" sz="1400" dirty="0"/>
          </a:p>
        </p:txBody>
      </p:sp>
      <p:sp>
        <p:nvSpPr>
          <p:cNvPr id="11" name="Tarjeta del gráfico"/>
          <p:cNvSpPr/>
          <p:nvPr/>
        </p:nvSpPr>
        <p:spPr>
          <a:xfrm>
            <a:off x="5212080" y="1554480"/>
            <a:ext cx="6430975" cy="4343400"/>
          </a:xfrm>
          <a:prstGeom prst="roundRect">
            <a:avLst>
              <a:gd name="adj" fmla="val 2526"/>
            </a:avLst>
          </a:prstGeom>
          <a:solidFill>
            <a:schemeClr val="bg2"/>
          </a:solidFill>
          <a:ln/>
        </p:spPr>
      </p:sp>
      <p:graphicFrame>
        <p:nvGraphicFramePr>
          <p:cNvPr id="12" name="Gráfico de reparto del tiempo" descr=""/>
          <p:cNvGraphicFramePr/>
          <p:nvPr/>
        </p:nvGraphicFramePr>
        <p:xfrm>
          <a:off x="5440680" y="1737360"/>
          <a:ext cx="5973775" cy="2743200"/>
        </p:xfrm>
        <a:graphic xmlns:a="http://schemas.openxmlformats.org/drawingml/2006/main">
          <a:graphicData uri="http://schemas.openxmlformats.org/drawingml/2006/chart">
            <c:chart xmlns:c="http://schemas.openxmlformats.org/drawingml/2006/chart" r:id="rId1"/>
          </a:graphicData>
        </a:graphic>
      </p:graphicFrame>
      <p:sp>
        <p:nvSpPr>
          <p:cNvPr id="13" name="Lectura del gráfico"/>
          <p:cNvSpPr txBox="1"/>
          <p:nvPr/>
        </p:nvSpPr>
        <p:spPr>
          <a:xfrm>
            <a:off x="5440680" y="4800600"/>
            <a:ext cx="5973775" cy="822960"/>
          </a:xfrm>
          <a:prstGeom prst="rect">
            <a:avLst/>
          </a:prstGeom>
          <a:noFill/>
          <a:ln/>
        </p:spPr>
        <p:txBody>
          <a:bodyPr wrap="square" lIns="0" tIns="0" rIns="0" bIns="0" rtlCol="0" anchor="ctr"/>
          <a:lstStyle/>
          <a:p>
            <a:pPr indent="0" marL="0">
              <a:buNone/>
            </a:pPr>
            <a:r>
              <a:rPr lang="en-US" sz="1600" dirty="0">
                <a:solidFill>
                  <a:schemeClr val="tx1"/>
                </a:solidFill>
              </a:rPr>
              <a:t>≈ 70 % del tiempo fue trabajo activo y ≈ 30 % fue render.</a:t>
            </a:r>
            <a:endParaRPr lang="en-US" sz="16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Costo: sin cifra exacta por tarea</a:t>
            </a:r>
            <a:endParaRPr lang="en-US" sz="3600" dirty="0"/>
          </a:p>
        </p:txBody>
      </p:sp>
      <p:sp>
        <p:nvSpPr>
          <p:cNvPr id="3" name="Panel de costo"/>
          <p:cNvSpPr/>
          <p:nvPr/>
        </p:nvSpPr>
        <p:spPr>
          <a:xfrm>
            <a:off x="548640" y="1600200"/>
            <a:ext cx="4754880" cy="4206240"/>
          </a:xfrm>
          <a:prstGeom prst="roundRect">
            <a:avLst>
              <a:gd name="adj" fmla="val 2609"/>
            </a:avLst>
          </a:prstGeom>
          <a:solidFill>
            <a:schemeClr val="accent1">
              <a:alpha val="12000"/>
            </a:schemeClr>
          </a:solidFill>
          <a:ln/>
        </p:spPr>
      </p:sp>
      <p:sp>
        <p:nvSpPr>
          <p:cNvPr id="4" name="Icono de monedas (círculo)"/>
          <p:cNvSpPr/>
          <p:nvPr/>
        </p:nvSpPr>
        <p:spPr>
          <a:xfrm>
            <a:off x="960120" y="2194560"/>
            <a:ext cx="822960" cy="822960"/>
          </a:xfrm>
          <a:prstGeom prst="ellipse">
            <a:avLst/>
          </a:prstGeom>
          <a:solidFill>
            <a:schemeClr val="accent1"/>
          </a:solidFill>
          <a:ln/>
        </p:spPr>
      </p:sp>
      <p:pic>
        <p:nvPicPr>
          <p:cNvPr id="5" name="Icono de monedas" descr="Icono de monedas">    </p:cNvPr>
          <p:cNvPicPr>
            <a:picLocks noChangeAspect="1"/>
          </p:cNvPicPr>
          <p:nvPr/>
        </p:nvPicPr>
        <p:blipFill>
          <a:blip r:embed="rId1"/>
          <a:stretch>
            <a:fillRect/>
          </a:stretch>
        </p:blipFill>
        <p:spPr>
          <a:xfrm>
            <a:off x="1182319" y="2416759"/>
            <a:ext cx="378562" cy="378562"/>
          </a:xfrm>
          <a:prstGeom prst="rect">
            <a:avLst/>
          </a:prstGeom>
        </p:spPr>
      </p:pic>
      <p:sp>
        <p:nvSpPr>
          <p:cNvPr id="6" name="Mensaje de costo"/>
          <p:cNvSpPr txBox="1"/>
          <p:nvPr/>
        </p:nvSpPr>
        <p:spPr>
          <a:xfrm>
            <a:off x="960120" y="3246120"/>
            <a:ext cx="3931920" cy="2011680"/>
          </a:xfrm>
          <a:prstGeom prst="rect">
            <a:avLst/>
          </a:prstGeom>
          <a:noFill/>
          <a:ln/>
        </p:spPr>
        <p:txBody>
          <a:bodyPr wrap="square" lIns="0" tIns="0" rIns="0" bIns="0" rtlCol="0" anchor="t"/>
          <a:lstStyle/>
          <a:p>
            <a:pPr indent="0" marL="0">
              <a:buNone/>
            </a:pPr>
            <a:r>
              <a:rPr lang="en-US" sz="3000" b="1" dirty="0">
                <a:solidFill>
                  <a:schemeClr val="tx1"/>
                </a:solidFill>
                <a:latin typeface="Cambria" pitchFamily="34" charset="0"/>
                <a:ea typeface="Cambria" pitchFamily="34" charset="-122"/>
                <a:cs typeface="Cambria" pitchFamily="34" charset="-120"/>
              </a:rPr>
              <a:t>No hay una cifra exacta de créditos para esta tarea en particular.</a:t>
            </a:r>
            <a:endParaRPr lang="en-US" sz="3000" dirty="0"/>
          </a:p>
        </p:txBody>
      </p:sp>
      <p:sp>
        <p:nvSpPr>
          <p:cNvPr id="7" name="Tarjeta Por qué"/>
          <p:cNvSpPr/>
          <p:nvPr/>
        </p:nvSpPr>
        <p:spPr>
          <a:xfrm>
            <a:off x="5623560" y="1600200"/>
            <a:ext cx="6019495" cy="1965960"/>
          </a:xfrm>
          <a:prstGeom prst="roundRect">
            <a:avLst>
              <a:gd name="adj" fmla="val 5581"/>
            </a:avLst>
          </a:prstGeom>
          <a:solidFill>
            <a:schemeClr val="bg2"/>
          </a:solidFill>
          <a:ln/>
        </p:spPr>
      </p:sp>
      <p:sp>
        <p:nvSpPr>
          <p:cNvPr id="8" name="Icono Por qué (círculo)"/>
          <p:cNvSpPr/>
          <p:nvPr/>
        </p:nvSpPr>
        <p:spPr>
          <a:xfrm>
            <a:off x="5989320" y="2217420"/>
            <a:ext cx="731520" cy="731520"/>
          </a:xfrm>
          <a:prstGeom prst="ellipse">
            <a:avLst/>
          </a:prstGeom>
          <a:solidFill>
            <a:schemeClr val="accent1"/>
          </a:solidFill>
          <a:ln/>
        </p:spPr>
      </p:sp>
      <p:pic>
        <p:nvPicPr>
          <p:cNvPr id="9" name="Icono Por qué" descr="Icono Por qué">    </p:cNvPr>
          <p:cNvPicPr>
            <a:picLocks noChangeAspect="1"/>
          </p:cNvPicPr>
          <p:nvPr/>
        </p:nvPicPr>
        <p:blipFill>
          <a:blip r:embed="rId2"/>
          <a:stretch>
            <a:fillRect/>
          </a:stretch>
        </p:blipFill>
        <p:spPr>
          <a:xfrm>
            <a:off x="6186830" y="2414930"/>
            <a:ext cx="336499" cy="336499"/>
          </a:xfrm>
          <a:prstGeom prst="rect">
            <a:avLst/>
          </a:prstGeom>
        </p:spPr>
      </p:pic>
      <p:sp>
        <p:nvSpPr>
          <p:cNvPr id="10" name="Por qué"/>
          <p:cNvSpPr txBox="1"/>
          <p:nvPr/>
        </p:nvSpPr>
        <p:spPr>
          <a:xfrm>
            <a:off x="6995160" y="1737360"/>
            <a:ext cx="4327855" cy="1691640"/>
          </a:xfrm>
          <a:prstGeom prst="rect">
            <a:avLst/>
          </a:prstGeom>
          <a:noFill/>
          <a:ln/>
        </p:spPr>
        <p:txBody>
          <a:bodyPr wrap="square" lIns="0" tIns="0" rIns="0" bIns="0" rtlCol="0" anchor="ctr"/>
          <a:lstStyle/>
          <a:p>
            <a:pPr indent="0" marL="0">
              <a:spcAft>
                <a:spcPts val="600"/>
              </a:spcAft>
              <a:buNone/>
            </a:pPr>
            <a:r>
              <a:rPr lang="en-US" sz="2000" b="1" dirty="0">
                <a:solidFill>
                  <a:schemeClr val="tx1"/>
                </a:solidFill>
              </a:rPr>
              <a:t>Por qué</a:t>
            </a:r>
            <a:endParaRPr lang="en-US" sz="2000" dirty="0"/>
          </a:p>
          <a:p>
            <a:pPr indent="0" marL="0">
              <a:spcAft>
                <a:spcPts val="600"/>
              </a:spcAft>
              <a:buNone/>
            </a:pPr>
            <a:r>
              <a:rPr lang="en-US" sz="1600" dirty="0">
                <a:solidFill>
                  <a:schemeClr val="accent5"/>
                </a:solidFill>
              </a:rPr>
              <a:t>La cuenta es Enterprise: la facturación se hace a nivel de toda la organización, no por proyecto.</a:t>
            </a:r>
            <a:endParaRPr lang="en-US" sz="2000" dirty="0"/>
          </a:p>
        </p:txBody>
      </p:sp>
      <p:sp>
        <p:nvSpPr>
          <p:cNvPr id="11" name="Tarjeta Cómo obtener el dato"/>
          <p:cNvSpPr/>
          <p:nvPr/>
        </p:nvSpPr>
        <p:spPr>
          <a:xfrm>
            <a:off x="5623560" y="3840480"/>
            <a:ext cx="6019495" cy="1965960"/>
          </a:xfrm>
          <a:prstGeom prst="roundRect">
            <a:avLst>
              <a:gd name="adj" fmla="val 5581"/>
            </a:avLst>
          </a:prstGeom>
          <a:solidFill>
            <a:schemeClr val="bg2"/>
          </a:solidFill>
          <a:ln/>
        </p:spPr>
      </p:sp>
      <p:sp>
        <p:nvSpPr>
          <p:cNvPr id="12" name="Icono Cómo obtener el dato (círculo)"/>
          <p:cNvSpPr/>
          <p:nvPr/>
        </p:nvSpPr>
        <p:spPr>
          <a:xfrm>
            <a:off x="5989320" y="4457700"/>
            <a:ext cx="731520" cy="731520"/>
          </a:xfrm>
          <a:prstGeom prst="ellipse">
            <a:avLst/>
          </a:prstGeom>
          <a:solidFill>
            <a:schemeClr val="accent1"/>
          </a:solidFill>
          <a:ln/>
        </p:spPr>
      </p:sp>
      <p:pic>
        <p:nvPicPr>
          <p:cNvPr id="13" name="Icono Cómo obtener el dato" descr="Icono Cómo obtener el dato">    </p:cNvPr>
          <p:cNvPicPr>
            <a:picLocks noChangeAspect="1"/>
          </p:cNvPicPr>
          <p:nvPr/>
        </p:nvPicPr>
        <p:blipFill>
          <a:blip r:embed="rId3"/>
          <a:stretch>
            <a:fillRect/>
          </a:stretch>
        </p:blipFill>
        <p:spPr>
          <a:xfrm>
            <a:off x="6186830" y="4655210"/>
            <a:ext cx="336499" cy="336499"/>
          </a:xfrm>
          <a:prstGeom prst="rect">
            <a:avLst/>
          </a:prstGeom>
        </p:spPr>
      </p:pic>
      <p:sp>
        <p:nvSpPr>
          <p:cNvPr id="14" name="Cómo obtener el dato"/>
          <p:cNvSpPr txBox="1"/>
          <p:nvPr/>
        </p:nvSpPr>
        <p:spPr>
          <a:xfrm>
            <a:off x="6995160" y="3977640"/>
            <a:ext cx="4327855" cy="1691640"/>
          </a:xfrm>
          <a:prstGeom prst="rect">
            <a:avLst/>
          </a:prstGeom>
          <a:noFill/>
          <a:ln/>
        </p:spPr>
        <p:txBody>
          <a:bodyPr wrap="square" lIns="0" tIns="0" rIns="0" bIns="0" rtlCol="0" anchor="ctr"/>
          <a:lstStyle/>
          <a:p>
            <a:pPr indent="0" marL="0">
              <a:spcAft>
                <a:spcPts val="600"/>
              </a:spcAft>
              <a:buNone/>
            </a:pPr>
            <a:r>
              <a:rPr lang="en-US" sz="2000" b="1" dirty="0">
                <a:solidFill>
                  <a:schemeClr val="tx1"/>
                </a:solidFill>
              </a:rPr>
              <a:t>Cómo obtener el dato</a:t>
            </a:r>
            <a:endParaRPr lang="en-US" sz="2000" dirty="0"/>
          </a:p>
          <a:p>
            <a:pPr indent="0" marL="0">
              <a:spcAft>
                <a:spcPts val="600"/>
              </a:spcAft>
              <a:buNone/>
            </a:pPr>
            <a:r>
              <a:rPr lang="en-US" sz="1600" dirty="0">
                <a:solidFill>
                  <a:schemeClr val="accent5"/>
                </a:solidFill>
              </a:rPr>
              <a:t>Pedirlo a quien administra la cuenta.</a:t>
            </a:r>
            <a:endParaRPr lang="en-US" sz="20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Un modelo liviano, con renders pesados</a:t>
            </a:r>
            <a:endParaRPr lang="en-US" sz="3600" dirty="0"/>
          </a:p>
        </p:txBody>
      </p:sp>
      <p:sp>
        <p:nvSpPr>
          <p:cNvPr id="3" name="Grupo modelo"/>
          <p:cNvSpPr txBox="1"/>
          <p:nvPr/>
        </p:nvSpPr>
        <p:spPr>
          <a:xfrm>
            <a:off x="548640" y="1463040"/>
            <a:ext cx="7289597"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EL MODELO</a:t>
            </a:r>
            <a:endParaRPr lang="en-US" sz="1200" dirty="0"/>
          </a:p>
        </p:txBody>
      </p:sp>
      <p:sp>
        <p:nvSpPr>
          <p:cNvPr id="4" name="Grupo salida"/>
          <p:cNvSpPr txBox="1"/>
          <p:nvPr/>
        </p:nvSpPr>
        <p:spPr>
          <a:xfrm>
            <a:off x="8158277" y="1463040"/>
            <a:ext cx="3484778" cy="320040"/>
          </a:xfrm>
          <a:prstGeom prst="rect">
            <a:avLst/>
          </a:prstGeom>
          <a:noFill/>
          <a:ln/>
        </p:spPr>
        <p:txBody>
          <a:bodyPr wrap="square" lIns="0" tIns="0" rIns="0" bIns="0" rtlCol="0" anchor="ctr"/>
          <a:lstStyle/>
          <a:p>
            <a:pPr indent="0" marL="0">
              <a:buNone/>
            </a:pPr>
            <a:r>
              <a:rPr lang="en-US" sz="1200" b="1" spc="200" kern="0" dirty="0">
                <a:solidFill>
                  <a:schemeClr val="accent2"/>
                </a:solidFill>
              </a:rPr>
              <a:t>LA SALIDA</a:t>
            </a:r>
            <a:endParaRPr lang="en-US" sz="1200" dirty="0"/>
          </a:p>
        </p:txBody>
      </p:sp>
      <p:sp>
        <p:nvSpPr>
          <p:cNvPr id="5" name="Tarjeta 394.000"/>
          <p:cNvSpPr/>
          <p:nvPr/>
        </p:nvSpPr>
        <p:spPr>
          <a:xfrm>
            <a:off x="548640" y="1874520"/>
            <a:ext cx="3484778" cy="2743200"/>
          </a:xfrm>
          <a:prstGeom prst="roundRect">
            <a:avLst>
              <a:gd name="adj" fmla="val 4000"/>
            </a:avLst>
          </a:prstGeom>
          <a:solidFill>
            <a:schemeClr val="bg2"/>
          </a:solidFill>
          <a:ln/>
        </p:spPr>
      </p:sp>
      <p:sp>
        <p:nvSpPr>
          <p:cNvPr id="6" name="Icono 394.000 (círculo)"/>
          <p:cNvSpPr/>
          <p:nvPr/>
        </p:nvSpPr>
        <p:spPr>
          <a:xfrm>
            <a:off x="868680" y="2194560"/>
            <a:ext cx="640080" cy="640080"/>
          </a:xfrm>
          <a:prstGeom prst="ellipse">
            <a:avLst/>
          </a:prstGeom>
          <a:solidFill>
            <a:schemeClr val="accent1"/>
          </a:solidFill>
          <a:ln/>
        </p:spPr>
      </p:sp>
      <p:pic>
        <p:nvPicPr>
          <p:cNvPr id="7" name="Icono 394.000" descr="Icono 394.000">    </p:cNvPr>
          <p:cNvPicPr>
            <a:picLocks noChangeAspect="1"/>
          </p:cNvPicPr>
          <p:nvPr/>
        </p:nvPicPr>
        <p:blipFill>
          <a:blip r:embed="rId1"/>
          <a:stretch>
            <a:fillRect/>
          </a:stretch>
        </p:blipFill>
        <p:spPr>
          <a:xfrm>
            <a:off x="1041502" y="2367382"/>
            <a:ext cx="294437" cy="294437"/>
          </a:xfrm>
          <a:prstGeom prst="rect">
            <a:avLst/>
          </a:prstGeom>
        </p:spPr>
      </p:pic>
      <p:sp>
        <p:nvSpPr>
          <p:cNvPr id="8" name="Cifra 394.000"/>
          <p:cNvSpPr txBox="1"/>
          <p:nvPr/>
        </p:nvSpPr>
        <p:spPr>
          <a:xfrm>
            <a:off x="868680" y="3017520"/>
            <a:ext cx="2844698" cy="731520"/>
          </a:xfrm>
          <a:prstGeom prst="rect">
            <a:avLst/>
          </a:prstGeom>
          <a:noFill/>
          <a:ln/>
        </p:spPr>
        <p:txBody>
          <a:bodyPr wrap="square" lIns="0" tIns="0" rIns="0" bIns="0" rtlCol="0" anchor="ctr"/>
          <a:lstStyle/>
          <a:p>
            <a:pPr indent="0" marL="0">
              <a:buNone/>
            </a:pPr>
            <a:r>
              <a:rPr lang="en-US" sz="4000" b="1" dirty="0">
                <a:solidFill>
                  <a:schemeClr val="tx1"/>
                </a:solidFill>
                <a:latin typeface="Cambria" pitchFamily="34" charset="0"/>
                <a:ea typeface="Cambria" pitchFamily="34" charset="-122"/>
                <a:cs typeface="Cambria" pitchFamily="34" charset="-120"/>
              </a:rPr>
              <a:t>394.000</a:t>
            </a:r>
            <a:endParaRPr lang="en-US" sz="4000" dirty="0"/>
          </a:p>
        </p:txBody>
      </p:sp>
      <p:sp>
        <p:nvSpPr>
          <p:cNvPr id="9" name="Etiqueta 394.000"/>
          <p:cNvSpPr txBox="1"/>
          <p:nvPr/>
        </p:nvSpPr>
        <p:spPr>
          <a:xfrm>
            <a:off x="868680" y="3749040"/>
            <a:ext cx="2844698" cy="731520"/>
          </a:xfrm>
          <a:prstGeom prst="rect">
            <a:avLst/>
          </a:prstGeom>
          <a:noFill/>
          <a:ln/>
        </p:spPr>
        <p:txBody>
          <a:bodyPr wrap="square" lIns="0" tIns="0" rIns="0" bIns="0" rtlCol="0" anchor="t"/>
          <a:lstStyle/>
          <a:p>
            <a:pPr indent="0" marL="0">
              <a:buNone/>
            </a:pPr>
            <a:r>
              <a:rPr lang="en-US" sz="1400" dirty="0">
                <a:solidFill>
                  <a:schemeClr val="accent5"/>
                </a:solidFill>
              </a:rPr>
              <a:t>triángulos en total en la escena</a:t>
            </a:r>
            <a:endParaRPr lang="en-US" sz="1400" dirty="0"/>
          </a:p>
        </p:txBody>
      </p:sp>
      <p:sp>
        <p:nvSpPr>
          <p:cNvPr id="10" name="Tarjeta 2,5 MB"/>
          <p:cNvSpPr/>
          <p:nvPr/>
        </p:nvSpPr>
        <p:spPr>
          <a:xfrm>
            <a:off x="4353458" y="1874520"/>
            <a:ext cx="3484778" cy="2743200"/>
          </a:xfrm>
          <a:prstGeom prst="roundRect">
            <a:avLst>
              <a:gd name="adj" fmla="val 4000"/>
            </a:avLst>
          </a:prstGeom>
          <a:solidFill>
            <a:schemeClr val="bg2"/>
          </a:solidFill>
          <a:ln/>
        </p:spPr>
      </p:sp>
      <p:sp>
        <p:nvSpPr>
          <p:cNvPr id="11" name="Icono 2,5 MB (círculo)"/>
          <p:cNvSpPr/>
          <p:nvPr/>
        </p:nvSpPr>
        <p:spPr>
          <a:xfrm>
            <a:off x="4673498" y="2194560"/>
            <a:ext cx="640080" cy="640080"/>
          </a:xfrm>
          <a:prstGeom prst="ellipse">
            <a:avLst/>
          </a:prstGeom>
          <a:solidFill>
            <a:schemeClr val="accent1"/>
          </a:solidFill>
          <a:ln/>
        </p:spPr>
      </p:sp>
      <p:pic>
        <p:nvPicPr>
          <p:cNvPr id="12" name="Icono 2,5 MB" descr="Icono 2,5 MB">    </p:cNvPr>
          <p:cNvPicPr>
            <a:picLocks noChangeAspect="1"/>
          </p:cNvPicPr>
          <p:nvPr/>
        </p:nvPicPr>
        <p:blipFill>
          <a:blip r:embed="rId2"/>
          <a:stretch>
            <a:fillRect/>
          </a:stretch>
        </p:blipFill>
        <p:spPr>
          <a:xfrm>
            <a:off x="4846320" y="2367382"/>
            <a:ext cx="294437" cy="294437"/>
          </a:xfrm>
          <a:prstGeom prst="rect">
            <a:avLst/>
          </a:prstGeom>
        </p:spPr>
      </p:pic>
      <p:sp>
        <p:nvSpPr>
          <p:cNvPr id="13" name="Cifra 2,5 MB"/>
          <p:cNvSpPr txBox="1"/>
          <p:nvPr/>
        </p:nvSpPr>
        <p:spPr>
          <a:xfrm>
            <a:off x="4673498" y="3017520"/>
            <a:ext cx="2844698" cy="731520"/>
          </a:xfrm>
          <a:prstGeom prst="rect">
            <a:avLst/>
          </a:prstGeom>
          <a:noFill/>
          <a:ln/>
        </p:spPr>
        <p:txBody>
          <a:bodyPr wrap="square" lIns="0" tIns="0" rIns="0" bIns="0" rtlCol="0" anchor="ctr"/>
          <a:lstStyle/>
          <a:p>
            <a:pPr indent="0" marL="0">
              <a:buNone/>
            </a:pPr>
            <a:r>
              <a:rPr lang="en-US" sz="4000" b="1" dirty="0">
                <a:solidFill>
                  <a:schemeClr val="tx1"/>
                </a:solidFill>
                <a:latin typeface="Cambria" pitchFamily="34" charset="0"/>
                <a:ea typeface="Cambria" pitchFamily="34" charset="-122"/>
                <a:cs typeface="Cambria" pitchFamily="34" charset="-120"/>
              </a:rPr>
              <a:t>2,5 MB</a:t>
            </a:r>
            <a:endParaRPr lang="en-US" sz="4000" dirty="0"/>
          </a:p>
        </p:txBody>
      </p:sp>
      <p:sp>
        <p:nvSpPr>
          <p:cNvPr id="14" name="Etiqueta 2,5 MB"/>
          <p:cNvSpPr txBox="1"/>
          <p:nvPr/>
        </p:nvSpPr>
        <p:spPr>
          <a:xfrm>
            <a:off x="4673498" y="3749040"/>
            <a:ext cx="2844698" cy="731520"/>
          </a:xfrm>
          <a:prstGeom prst="rect">
            <a:avLst/>
          </a:prstGeom>
          <a:noFill/>
          <a:ln/>
        </p:spPr>
        <p:txBody>
          <a:bodyPr wrap="square" lIns="0" tIns="0" rIns="0" bIns="0" rtlCol="0" anchor="t"/>
          <a:lstStyle/>
          <a:p>
            <a:pPr indent="0" marL="0">
              <a:buNone/>
            </a:pPr>
            <a:r>
              <a:rPr lang="en-US" sz="1400" dirty="0">
                <a:solidFill>
                  <a:schemeClr val="accent5"/>
                </a:solidFill>
              </a:rPr>
              <a:t>archivo .blend: todo es procedural, sin texturas pesadas</a:t>
            </a:r>
            <a:endParaRPr lang="en-US" sz="1400" dirty="0"/>
          </a:p>
        </p:txBody>
      </p:sp>
      <p:sp>
        <p:nvSpPr>
          <p:cNvPr id="15" name="Tarjeta 2,5 GB"/>
          <p:cNvSpPr/>
          <p:nvPr/>
        </p:nvSpPr>
        <p:spPr>
          <a:xfrm>
            <a:off x="8158277" y="1874520"/>
            <a:ext cx="3484778" cy="2743200"/>
          </a:xfrm>
          <a:prstGeom prst="roundRect">
            <a:avLst>
              <a:gd name="adj" fmla="val 4000"/>
            </a:avLst>
          </a:prstGeom>
          <a:solidFill>
            <a:schemeClr val="accent2">
              <a:alpha val="12000"/>
            </a:schemeClr>
          </a:solidFill>
          <a:ln/>
        </p:spPr>
      </p:sp>
      <p:sp>
        <p:nvSpPr>
          <p:cNvPr id="16" name="Icono 2,5 GB (círculo)"/>
          <p:cNvSpPr/>
          <p:nvPr/>
        </p:nvSpPr>
        <p:spPr>
          <a:xfrm>
            <a:off x="8478317" y="2194560"/>
            <a:ext cx="640080" cy="640080"/>
          </a:xfrm>
          <a:prstGeom prst="ellipse">
            <a:avLst/>
          </a:prstGeom>
          <a:solidFill>
            <a:schemeClr val="accent2"/>
          </a:solidFill>
          <a:ln/>
        </p:spPr>
      </p:sp>
      <p:pic>
        <p:nvPicPr>
          <p:cNvPr id="17" name="Icono 2,5 GB" descr="Icono 2,5 GB">    </p:cNvPr>
          <p:cNvPicPr>
            <a:picLocks noChangeAspect="1"/>
          </p:cNvPicPr>
          <p:nvPr/>
        </p:nvPicPr>
        <p:blipFill>
          <a:blip r:embed="rId3"/>
          <a:stretch>
            <a:fillRect/>
          </a:stretch>
        </p:blipFill>
        <p:spPr>
          <a:xfrm>
            <a:off x="8651138" y="2367382"/>
            <a:ext cx="294437" cy="294437"/>
          </a:xfrm>
          <a:prstGeom prst="rect">
            <a:avLst/>
          </a:prstGeom>
        </p:spPr>
      </p:pic>
      <p:sp>
        <p:nvSpPr>
          <p:cNvPr id="18" name="Cifra 2,5 GB"/>
          <p:cNvSpPr txBox="1"/>
          <p:nvPr/>
        </p:nvSpPr>
        <p:spPr>
          <a:xfrm>
            <a:off x="8478317" y="3017520"/>
            <a:ext cx="2844698" cy="731520"/>
          </a:xfrm>
          <a:prstGeom prst="rect">
            <a:avLst/>
          </a:prstGeom>
          <a:noFill/>
          <a:ln/>
        </p:spPr>
        <p:txBody>
          <a:bodyPr wrap="square" lIns="0" tIns="0" rIns="0" bIns="0" rtlCol="0" anchor="ctr"/>
          <a:lstStyle/>
          <a:p>
            <a:pPr indent="0" marL="0">
              <a:buNone/>
            </a:pPr>
            <a:r>
              <a:rPr lang="en-US" sz="4000" b="1" dirty="0">
                <a:solidFill>
                  <a:schemeClr val="tx1"/>
                </a:solidFill>
                <a:latin typeface="Cambria" pitchFamily="34" charset="0"/>
                <a:ea typeface="Cambria" pitchFamily="34" charset="-122"/>
                <a:cs typeface="Cambria" pitchFamily="34" charset="-120"/>
              </a:rPr>
              <a:t>2,5 GB</a:t>
            </a:r>
            <a:endParaRPr lang="en-US" sz="4000" dirty="0"/>
          </a:p>
        </p:txBody>
      </p:sp>
      <p:sp>
        <p:nvSpPr>
          <p:cNvPr id="19" name="Etiqueta 2,5 GB"/>
          <p:cNvSpPr txBox="1"/>
          <p:nvPr/>
        </p:nvSpPr>
        <p:spPr>
          <a:xfrm>
            <a:off x="8478317" y="3749040"/>
            <a:ext cx="2844698" cy="731520"/>
          </a:xfrm>
          <a:prstGeom prst="rect">
            <a:avLst/>
          </a:prstGeom>
          <a:noFill/>
          <a:ln/>
        </p:spPr>
        <p:txBody>
          <a:bodyPr wrap="square" lIns="0" tIns="0" rIns="0" bIns="0" rtlCol="0" anchor="t"/>
          <a:lstStyle/>
          <a:p>
            <a:pPr indent="0" marL="0">
              <a:buNone/>
            </a:pPr>
            <a:r>
              <a:rPr lang="en-US" sz="1400" dirty="0">
                <a:solidFill>
                  <a:schemeClr val="accent5"/>
                </a:solidFill>
              </a:rPr>
              <a:t>renders finales: es la salida de imágenes, no el modelo</a:t>
            </a:r>
            <a:endParaRPr lang="en-US" sz="1400" dirty="0"/>
          </a:p>
        </p:txBody>
      </p:sp>
      <p:sp>
        <p:nvSpPr>
          <p:cNvPr id="20" name="Icono de idea (círculo)"/>
          <p:cNvSpPr/>
          <p:nvPr/>
        </p:nvSpPr>
        <p:spPr>
          <a:xfrm>
            <a:off x="548640" y="5029200"/>
            <a:ext cx="548640" cy="548640"/>
          </a:xfrm>
          <a:prstGeom prst="ellipse">
            <a:avLst/>
          </a:prstGeom>
          <a:solidFill>
            <a:schemeClr val="accent4"/>
          </a:solidFill>
          <a:ln/>
        </p:spPr>
      </p:sp>
      <p:pic>
        <p:nvPicPr>
          <p:cNvPr id="21" name="Icono de idea" descr="Icono de idea">    </p:cNvPr>
          <p:cNvPicPr>
            <a:picLocks noChangeAspect="1"/>
          </p:cNvPicPr>
          <p:nvPr/>
        </p:nvPicPr>
        <p:blipFill>
          <a:blip r:embed="rId4"/>
          <a:stretch>
            <a:fillRect/>
          </a:stretch>
        </p:blipFill>
        <p:spPr>
          <a:xfrm>
            <a:off x="696773" y="5177333"/>
            <a:ext cx="252374" cy="252374"/>
          </a:xfrm>
          <a:prstGeom prst="rect">
            <a:avLst/>
          </a:prstGeom>
        </p:spPr>
      </p:pic>
      <p:sp>
        <p:nvSpPr>
          <p:cNvPr id="22" name="Conclusión de tamaño"/>
          <p:cNvSpPr txBox="1"/>
          <p:nvPr/>
        </p:nvSpPr>
        <p:spPr>
          <a:xfrm>
            <a:off x="1325880" y="4937760"/>
            <a:ext cx="10317175" cy="731520"/>
          </a:xfrm>
          <a:prstGeom prst="rect">
            <a:avLst/>
          </a:prstGeom>
          <a:noFill/>
          <a:ln/>
        </p:spPr>
        <p:txBody>
          <a:bodyPr wrap="square" lIns="0" tIns="0" rIns="0" bIns="0" rtlCol="0" anchor="ctr"/>
          <a:lstStyle/>
          <a:p>
            <a:pPr indent="0" marL="0">
              <a:buNone/>
            </a:pPr>
            <a:r>
              <a:rPr lang="en-US" sz="1600" dirty="0">
                <a:solidFill>
                  <a:schemeClr val="tx1"/>
                </a:solidFill>
              </a:rPr>
              <a:t>Los renders pesan unas 1.000 veces más que el archivo de la escena: el peso está en las imágenes, no en el modelo.</a:t>
            </a:r>
            <a:endParaRPr lang="en-US" sz="16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6 de cada 10 triángulos son árboles</a:t>
            </a:r>
            <a:endParaRPr lang="en-US" sz="3600" dirty="0"/>
          </a:p>
        </p:txBody>
      </p:sp>
      <p:pic>
        <p:nvPicPr>
          <p:cNvPr id="3" name="Ventana con árboles de fondo" descr="Recorte del render: la ventana, detrás de la cual se ven los árboles de fondo como una masa verde">    </p:cNvPr>
          <p:cNvPicPr>
            <a:picLocks noChangeAspect="1"/>
          </p:cNvPicPr>
          <p:nvPr/>
        </p:nvPicPr>
        <p:blipFill>
          <a:blip r:embed="rId1"/>
          <a:stretch>
            <a:fillRect/>
          </a:stretch>
        </p:blipFill>
        <p:spPr>
          <a:xfrm>
            <a:off x="548640" y="1554480"/>
            <a:ext cx="5212080" cy="3739896"/>
          </a:xfrm>
          <a:prstGeom prst="rect">
            <a:avLst/>
          </a:prstGeom>
        </p:spPr>
      </p:pic>
      <p:sp>
        <p:nvSpPr>
          <p:cNvPr id="4" name="Pie de la ventana"/>
          <p:cNvSpPr txBox="1"/>
          <p:nvPr/>
        </p:nvSpPr>
        <p:spPr>
          <a:xfrm>
            <a:off x="548640" y="5413248"/>
            <a:ext cx="5212080" cy="274320"/>
          </a:xfrm>
          <a:prstGeom prst="rect">
            <a:avLst/>
          </a:prstGeom>
          <a:noFill/>
          <a:ln/>
        </p:spPr>
        <p:txBody>
          <a:bodyPr wrap="square" lIns="0" tIns="0" rIns="0" bIns="0" rtlCol="0" anchor="ctr"/>
          <a:lstStyle/>
          <a:p>
            <a:pPr indent="0" marL="0">
              <a:buNone/>
            </a:pPr>
            <a:r>
              <a:rPr lang="en-US" sz="1100" dirty="0">
                <a:solidFill>
                  <a:schemeClr val="accent5"/>
                </a:solidFill>
              </a:rPr>
              <a:t>Los árboles de fondo apenas se ven a través de la ventana.</a:t>
            </a:r>
            <a:endParaRPr lang="en-US" sz="1100" dirty="0"/>
          </a:p>
        </p:txBody>
      </p:sp>
      <p:pic>
        <p:nvPicPr>
          <p:cNvPr id="5" name="Árbol 1" descr="Triángulos de árboles de fondo">    </p:cNvPr>
          <p:cNvPicPr>
            <a:picLocks noChangeAspect="1"/>
          </p:cNvPicPr>
          <p:nvPr/>
        </p:nvPicPr>
        <p:blipFill>
          <a:blip r:embed="rId2"/>
          <a:stretch>
            <a:fillRect/>
          </a:stretch>
        </p:blipFill>
        <p:spPr>
          <a:xfrm>
            <a:off x="6172200" y="1600200"/>
            <a:ext cx="420624" cy="420624"/>
          </a:xfrm>
          <a:prstGeom prst="rect">
            <a:avLst/>
          </a:prstGeom>
        </p:spPr>
      </p:pic>
      <p:pic>
        <p:nvPicPr>
          <p:cNvPr id="6" name="Árbol 2" descr="Triángulos de árboles de fondo">    </p:cNvPr>
          <p:cNvPicPr>
            <a:picLocks noChangeAspect="1"/>
          </p:cNvPicPr>
          <p:nvPr/>
        </p:nvPicPr>
        <p:blipFill>
          <a:blip r:embed="rId3"/>
          <a:stretch>
            <a:fillRect/>
          </a:stretch>
        </p:blipFill>
        <p:spPr>
          <a:xfrm>
            <a:off x="6733337" y="1600200"/>
            <a:ext cx="420624" cy="420624"/>
          </a:xfrm>
          <a:prstGeom prst="rect">
            <a:avLst/>
          </a:prstGeom>
        </p:spPr>
      </p:pic>
      <p:pic>
        <p:nvPicPr>
          <p:cNvPr id="7" name="Árbol 3" descr="Triángulos de árboles de fondo">    </p:cNvPr>
          <p:cNvPicPr>
            <a:picLocks noChangeAspect="1"/>
          </p:cNvPicPr>
          <p:nvPr/>
        </p:nvPicPr>
        <p:blipFill>
          <a:blip r:embed="rId4"/>
          <a:stretch>
            <a:fillRect/>
          </a:stretch>
        </p:blipFill>
        <p:spPr>
          <a:xfrm>
            <a:off x="7294474" y="1600200"/>
            <a:ext cx="420624" cy="420624"/>
          </a:xfrm>
          <a:prstGeom prst="rect">
            <a:avLst/>
          </a:prstGeom>
        </p:spPr>
      </p:pic>
      <p:pic>
        <p:nvPicPr>
          <p:cNvPr id="8" name="Árbol 4" descr="Triángulos de árboles de fondo">    </p:cNvPr>
          <p:cNvPicPr>
            <a:picLocks noChangeAspect="1"/>
          </p:cNvPicPr>
          <p:nvPr/>
        </p:nvPicPr>
        <p:blipFill>
          <a:blip r:embed="rId5"/>
          <a:stretch>
            <a:fillRect/>
          </a:stretch>
        </p:blipFill>
        <p:spPr>
          <a:xfrm>
            <a:off x="7855610" y="1600200"/>
            <a:ext cx="420624" cy="420624"/>
          </a:xfrm>
          <a:prstGeom prst="rect">
            <a:avLst/>
          </a:prstGeom>
        </p:spPr>
      </p:pic>
      <p:pic>
        <p:nvPicPr>
          <p:cNvPr id="9" name="Árbol 5" descr="Triángulos de árboles de fondo">    </p:cNvPr>
          <p:cNvPicPr>
            <a:picLocks noChangeAspect="1"/>
          </p:cNvPicPr>
          <p:nvPr/>
        </p:nvPicPr>
        <p:blipFill>
          <a:blip r:embed="rId6"/>
          <a:stretch>
            <a:fillRect/>
          </a:stretch>
        </p:blipFill>
        <p:spPr>
          <a:xfrm>
            <a:off x="8416747" y="1600200"/>
            <a:ext cx="420624" cy="420624"/>
          </a:xfrm>
          <a:prstGeom prst="rect">
            <a:avLst/>
          </a:prstGeom>
        </p:spPr>
      </p:pic>
      <p:pic>
        <p:nvPicPr>
          <p:cNvPr id="10" name="Árbol 6" descr="Triángulos de árboles de fondo">    </p:cNvPr>
          <p:cNvPicPr>
            <a:picLocks noChangeAspect="1"/>
          </p:cNvPicPr>
          <p:nvPr/>
        </p:nvPicPr>
        <p:blipFill>
          <a:blip r:embed="rId7"/>
          <a:stretch>
            <a:fillRect/>
          </a:stretch>
        </p:blipFill>
        <p:spPr>
          <a:xfrm>
            <a:off x="8977884" y="1600200"/>
            <a:ext cx="420624" cy="420624"/>
          </a:xfrm>
          <a:prstGeom prst="rect">
            <a:avLst/>
          </a:prstGeom>
        </p:spPr>
      </p:pic>
      <p:pic>
        <p:nvPicPr>
          <p:cNvPr id="11" name="Árbol 7" descr="Triángulos del resto de la escena">    </p:cNvPr>
          <p:cNvPicPr>
            <a:picLocks noChangeAspect="1"/>
          </p:cNvPicPr>
          <p:nvPr/>
        </p:nvPicPr>
        <p:blipFill>
          <a:blip r:embed="rId8"/>
          <a:stretch>
            <a:fillRect/>
          </a:stretch>
        </p:blipFill>
        <p:spPr>
          <a:xfrm>
            <a:off x="9539021" y="1600200"/>
            <a:ext cx="420624" cy="420624"/>
          </a:xfrm>
          <a:prstGeom prst="rect">
            <a:avLst/>
          </a:prstGeom>
        </p:spPr>
      </p:pic>
      <p:pic>
        <p:nvPicPr>
          <p:cNvPr id="12" name="Árbol 8" descr="Triángulos del resto de la escena">    </p:cNvPr>
          <p:cNvPicPr>
            <a:picLocks noChangeAspect="1"/>
          </p:cNvPicPr>
          <p:nvPr/>
        </p:nvPicPr>
        <p:blipFill>
          <a:blip r:embed="rId9"/>
          <a:stretch>
            <a:fillRect/>
          </a:stretch>
        </p:blipFill>
        <p:spPr>
          <a:xfrm>
            <a:off x="10100158" y="1600200"/>
            <a:ext cx="420624" cy="420624"/>
          </a:xfrm>
          <a:prstGeom prst="rect">
            <a:avLst/>
          </a:prstGeom>
        </p:spPr>
      </p:pic>
      <p:pic>
        <p:nvPicPr>
          <p:cNvPr id="13" name="Árbol 9" descr="Triángulos del resto de la escena">    </p:cNvPr>
          <p:cNvPicPr>
            <a:picLocks noChangeAspect="1"/>
          </p:cNvPicPr>
          <p:nvPr/>
        </p:nvPicPr>
        <p:blipFill>
          <a:blip r:embed="rId10"/>
          <a:stretch>
            <a:fillRect/>
          </a:stretch>
        </p:blipFill>
        <p:spPr>
          <a:xfrm>
            <a:off x="10661294" y="1600200"/>
            <a:ext cx="420624" cy="420624"/>
          </a:xfrm>
          <a:prstGeom prst="rect">
            <a:avLst/>
          </a:prstGeom>
        </p:spPr>
      </p:pic>
      <p:pic>
        <p:nvPicPr>
          <p:cNvPr id="14" name="Árbol 10" descr="Triángulos del resto de la escena">    </p:cNvPr>
          <p:cNvPicPr>
            <a:picLocks noChangeAspect="1"/>
          </p:cNvPicPr>
          <p:nvPr/>
        </p:nvPicPr>
        <p:blipFill>
          <a:blip r:embed="rId11"/>
          <a:stretch>
            <a:fillRect/>
          </a:stretch>
        </p:blipFill>
        <p:spPr>
          <a:xfrm>
            <a:off x="11222431" y="1600200"/>
            <a:ext cx="420624" cy="420624"/>
          </a:xfrm>
          <a:prstGeom prst="rect">
            <a:avLst/>
          </a:prstGeom>
        </p:spPr>
      </p:pic>
      <p:sp>
        <p:nvSpPr>
          <p:cNvPr id="15" name="Leyenda árboles"/>
          <p:cNvSpPr/>
          <p:nvPr/>
        </p:nvSpPr>
        <p:spPr>
          <a:xfrm>
            <a:off x="6172200" y="2221992"/>
            <a:ext cx="146304" cy="146304"/>
          </a:xfrm>
          <a:prstGeom prst="ellipse">
            <a:avLst/>
          </a:prstGeom>
          <a:solidFill>
            <a:schemeClr val="accent3"/>
          </a:solidFill>
          <a:ln/>
        </p:spPr>
      </p:sp>
      <p:sp>
        <p:nvSpPr>
          <p:cNvPr id="16" name="Leyenda árboles texto"/>
          <p:cNvSpPr txBox="1"/>
          <p:nvPr/>
        </p:nvSpPr>
        <p:spPr>
          <a:xfrm>
            <a:off x="6400800" y="2157984"/>
            <a:ext cx="2377440" cy="274320"/>
          </a:xfrm>
          <a:prstGeom prst="rect">
            <a:avLst/>
          </a:prstGeom>
          <a:noFill/>
          <a:ln/>
        </p:spPr>
        <p:txBody>
          <a:bodyPr wrap="square" lIns="0" tIns="0" rIns="0" bIns="0" rtlCol="0" anchor="ctr"/>
          <a:lstStyle/>
          <a:p>
            <a:pPr indent="0" marL="0">
              <a:buNone/>
            </a:pPr>
            <a:r>
              <a:rPr lang="en-US" sz="1200" dirty="0">
                <a:solidFill>
                  <a:schemeClr val="accent5"/>
                </a:solidFill>
              </a:rPr>
              <a:t>Árboles de fondo (≈ 60 %)</a:t>
            </a:r>
            <a:endParaRPr lang="en-US" sz="1200" dirty="0"/>
          </a:p>
        </p:txBody>
      </p:sp>
      <p:sp>
        <p:nvSpPr>
          <p:cNvPr id="17" name="Leyenda resto"/>
          <p:cNvSpPr/>
          <p:nvPr/>
        </p:nvSpPr>
        <p:spPr>
          <a:xfrm>
            <a:off x="8915400" y="2221992"/>
            <a:ext cx="146304" cy="146304"/>
          </a:xfrm>
          <a:prstGeom prst="ellipse">
            <a:avLst/>
          </a:prstGeom>
          <a:solidFill>
            <a:schemeClr val="accent6"/>
          </a:solidFill>
          <a:ln/>
        </p:spPr>
      </p:sp>
      <p:sp>
        <p:nvSpPr>
          <p:cNvPr id="18" name="Leyenda resto texto"/>
          <p:cNvSpPr txBox="1"/>
          <p:nvPr/>
        </p:nvSpPr>
        <p:spPr>
          <a:xfrm>
            <a:off x="9144000" y="2157984"/>
            <a:ext cx="2468880" cy="274320"/>
          </a:xfrm>
          <a:prstGeom prst="rect">
            <a:avLst/>
          </a:prstGeom>
          <a:noFill/>
          <a:ln/>
        </p:spPr>
        <p:txBody>
          <a:bodyPr wrap="square" lIns="0" tIns="0" rIns="0" bIns="0" rtlCol="0" anchor="ctr"/>
          <a:lstStyle/>
          <a:p>
            <a:pPr indent="0" marL="0">
              <a:buNone/>
            </a:pPr>
            <a:r>
              <a:rPr lang="en-US" sz="1200" dirty="0">
                <a:solidFill>
                  <a:schemeClr val="accent5"/>
                </a:solidFill>
              </a:rPr>
              <a:t>Resto de la escena (≈ 40 %)</a:t>
            </a:r>
            <a:endParaRPr lang="en-US" sz="1200" dirty="0"/>
          </a:p>
        </p:txBody>
      </p:sp>
      <p:sp>
        <p:nvSpPr>
          <p:cNvPr id="19" name="Icono El problema (círculo)"/>
          <p:cNvSpPr/>
          <p:nvPr/>
        </p:nvSpPr>
        <p:spPr>
          <a:xfrm>
            <a:off x="6172200" y="2788920"/>
            <a:ext cx="548640" cy="548640"/>
          </a:xfrm>
          <a:prstGeom prst="ellipse">
            <a:avLst/>
          </a:prstGeom>
          <a:solidFill>
            <a:schemeClr val="accent1"/>
          </a:solidFill>
          <a:ln/>
        </p:spPr>
      </p:sp>
      <p:pic>
        <p:nvPicPr>
          <p:cNvPr id="20" name="Icono El problema" descr="Icono El problema">    </p:cNvPr>
          <p:cNvPicPr>
            <a:picLocks noChangeAspect="1"/>
          </p:cNvPicPr>
          <p:nvPr/>
        </p:nvPicPr>
        <p:blipFill>
          <a:blip r:embed="rId12"/>
          <a:stretch>
            <a:fillRect/>
          </a:stretch>
        </p:blipFill>
        <p:spPr>
          <a:xfrm>
            <a:off x="6320333" y="2937053"/>
            <a:ext cx="252374" cy="252374"/>
          </a:xfrm>
          <a:prstGeom prst="rect">
            <a:avLst/>
          </a:prstGeom>
        </p:spPr>
      </p:pic>
      <p:sp>
        <p:nvSpPr>
          <p:cNvPr id="21" name="El problema"/>
          <p:cNvSpPr txBox="1"/>
          <p:nvPr/>
        </p:nvSpPr>
        <p:spPr>
          <a:xfrm>
            <a:off x="6949440" y="2743200"/>
            <a:ext cx="4693615" cy="914400"/>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El problema</a:t>
            </a:r>
            <a:endParaRPr lang="en-US" sz="1600" dirty="0"/>
          </a:p>
          <a:p>
            <a:pPr indent="0" marL="0">
              <a:spcAft>
                <a:spcPts val="200"/>
              </a:spcAft>
              <a:buNone/>
            </a:pPr>
            <a:r>
              <a:rPr lang="en-US" sz="1400" dirty="0">
                <a:solidFill>
                  <a:schemeClr val="accent5"/>
                </a:solidFill>
              </a:rPr>
              <a:t>Cada árbol tiene su propia malla repetida, en vez de reusar una sola base.</a:t>
            </a:r>
            <a:endParaRPr lang="en-US" sz="1600" dirty="0"/>
          </a:p>
        </p:txBody>
      </p:sp>
      <p:sp>
        <p:nvSpPr>
          <p:cNvPr id="22" name="Icono La solución (círculo)"/>
          <p:cNvSpPr/>
          <p:nvPr/>
        </p:nvSpPr>
        <p:spPr>
          <a:xfrm>
            <a:off x="6172200" y="3813048"/>
            <a:ext cx="548640" cy="548640"/>
          </a:xfrm>
          <a:prstGeom prst="ellipse">
            <a:avLst/>
          </a:prstGeom>
          <a:solidFill>
            <a:schemeClr val="accent3"/>
          </a:solidFill>
          <a:ln/>
        </p:spPr>
      </p:sp>
      <p:pic>
        <p:nvPicPr>
          <p:cNvPr id="23" name="Icono La solución" descr="Icono La solución">    </p:cNvPr>
          <p:cNvPicPr>
            <a:picLocks noChangeAspect="1"/>
          </p:cNvPicPr>
          <p:nvPr/>
        </p:nvPicPr>
        <p:blipFill>
          <a:blip r:embed="rId13"/>
          <a:stretch>
            <a:fillRect/>
          </a:stretch>
        </p:blipFill>
        <p:spPr>
          <a:xfrm>
            <a:off x="6320333" y="3961181"/>
            <a:ext cx="252374" cy="252374"/>
          </a:xfrm>
          <a:prstGeom prst="rect">
            <a:avLst/>
          </a:prstGeom>
        </p:spPr>
      </p:pic>
      <p:sp>
        <p:nvSpPr>
          <p:cNvPr id="24" name="La solución"/>
          <p:cNvSpPr txBox="1"/>
          <p:nvPr/>
        </p:nvSpPr>
        <p:spPr>
          <a:xfrm>
            <a:off x="6949440" y="3767328"/>
            <a:ext cx="4693615" cy="914400"/>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La solución</a:t>
            </a:r>
            <a:endParaRPr lang="en-US" sz="1600" dirty="0"/>
          </a:p>
          <a:p>
            <a:pPr indent="0" marL="0">
              <a:spcAft>
                <a:spcPts val="200"/>
              </a:spcAft>
              <a:buNone/>
            </a:pPr>
            <a:r>
              <a:rPr lang="en-US" sz="1400" dirty="0">
                <a:solidFill>
                  <a:schemeClr val="accent5"/>
                </a:solidFill>
              </a:rPr>
              <a:t>Reusar una única malla base para todos los árboles.</a:t>
            </a:r>
            <a:endParaRPr lang="en-US" sz="1600" dirty="0"/>
          </a:p>
        </p:txBody>
      </p:sp>
      <p:sp>
        <p:nvSpPr>
          <p:cNvPr id="25" name="Icono El resultado (círculo)"/>
          <p:cNvSpPr/>
          <p:nvPr/>
        </p:nvSpPr>
        <p:spPr>
          <a:xfrm>
            <a:off x="6172200" y="4837176"/>
            <a:ext cx="548640" cy="548640"/>
          </a:xfrm>
          <a:prstGeom prst="ellipse">
            <a:avLst/>
          </a:prstGeom>
          <a:solidFill>
            <a:schemeClr val="accent3"/>
          </a:solidFill>
          <a:ln/>
        </p:spPr>
      </p:sp>
      <p:pic>
        <p:nvPicPr>
          <p:cNvPr id="26" name="Icono El resultado" descr="Icono El resultado">    </p:cNvPr>
          <p:cNvPicPr>
            <a:picLocks noChangeAspect="1"/>
          </p:cNvPicPr>
          <p:nvPr/>
        </p:nvPicPr>
        <p:blipFill>
          <a:blip r:embed="rId14"/>
          <a:stretch>
            <a:fillRect/>
          </a:stretch>
        </p:blipFill>
        <p:spPr>
          <a:xfrm>
            <a:off x="6320333" y="4985309"/>
            <a:ext cx="252374" cy="252374"/>
          </a:xfrm>
          <a:prstGeom prst="rect">
            <a:avLst/>
          </a:prstGeom>
        </p:spPr>
      </p:pic>
      <p:sp>
        <p:nvSpPr>
          <p:cNvPr id="27" name="El resultado"/>
          <p:cNvSpPr txBox="1"/>
          <p:nvPr/>
        </p:nvSpPr>
        <p:spPr>
          <a:xfrm>
            <a:off x="6949440" y="4791456"/>
            <a:ext cx="4693615" cy="914400"/>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El resultado</a:t>
            </a:r>
            <a:endParaRPr lang="en-US" sz="1600" dirty="0"/>
          </a:p>
          <a:p>
            <a:pPr indent="0" marL="0">
              <a:spcAft>
                <a:spcPts val="200"/>
              </a:spcAft>
              <a:buNone/>
            </a:pPr>
            <a:r>
              <a:rPr lang="en-US" sz="1400" dirty="0">
                <a:solidFill>
                  <a:schemeClr val="accent5"/>
                </a:solidFill>
              </a:rPr>
              <a:t>Margen grande para aligerar la escena, sin que se note en el render.</a:t>
            </a:r>
            <a:endParaRPr lang="en-US" sz="16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Cómo se construyó, sin MCP</a:t>
            </a:r>
            <a:endParaRPr lang="en-US" sz="3600" dirty="0"/>
          </a:p>
        </p:txBody>
      </p:sp>
      <p:sp>
        <p:nvSpPr>
          <p:cNvPr id="3" name="Introducción del proceso"/>
          <p:cNvSpPr txBox="1"/>
          <p:nvPr/>
        </p:nvSpPr>
        <p:spPr>
          <a:xfrm>
            <a:off x="548640" y="1417320"/>
            <a:ext cx="11094415" cy="457200"/>
          </a:xfrm>
          <a:prstGeom prst="rect">
            <a:avLst/>
          </a:prstGeom>
          <a:noFill/>
          <a:ln/>
        </p:spPr>
        <p:txBody>
          <a:bodyPr wrap="square" lIns="0" tIns="0" rIns="0" bIns="0" rtlCol="0" anchor="ctr"/>
          <a:lstStyle/>
          <a:p>
            <a:pPr indent="0" marL="0">
              <a:buNone/>
            </a:pPr>
            <a:r>
              <a:rPr lang="en-US" sz="1600" dirty="0">
                <a:solidFill>
                  <a:schemeClr val="accent5"/>
                </a:solidFill>
              </a:rPr>
              <a:t>Ningún servidor ni add-on de Blender conectado por red: todo en modo headless, sin interfaz.</a:t>
            </a:r>
            <a:endParaRPr lang="en-US" sz="1600" dirty="0"/>
          </a:p>
        </p:txBody>
      </p:sp>
      <p:sp>
        <p:nvSpPr>
          <p:cNvPr id="4" name="Paso 1"/>
          <p:cNvSpPr/>
          <p:nvPr/>
        </p:nvSpPr>
        <p:spPr>
          <a:xfrm>
            <a:off x="548640" y="2103120"/>
            <a:ext cx="2430704" cy="2057400"/>
          </a:xfrm>
          <a:prstGeom prst="roundRect">
            <a:avLst>
              <a:gd name="adj" fmla="val 5333"/>
            </a:avLst>
          </a:prstGeom>
          <a:solidFill>
            <a:schemeClr val="bg2"/>
          </a:solidFill>
          <a:ln/>
        </p:spPr>
      </p:sp>
      <p:sp>
        <p:nvSpPr>
          <p:cNvPr id="5" name="Icono Script de Python (círculo)"/>
          <p:cNvSpPr/>
          <p:nvPr/>
        </p:nvSpPr>
        <p:spPr>
          <a:xfrm>
            <a:off x="822960" y="2331720"/>
            <a:ext cx="594360" cy="594360"/>
          </a:xfrm>
          <a:prstGeom prst="ellipse">
            <a:avLst/>
          </a:prstGeom>
          <a:solidFill>
            <a:schemeClr val="accent1"/>
          </a:solidFill>
          <a:ln/>
        </p:spPr>
      </p:sp>
      <p:pic>
        <p:nvPicPr>
          <p:cNvPr id="6" name="Icono Script de Python" descr="Icono Script de Python">    </p:cNvPr>
          <p:cNvPicPr>
            <a:picLocks noChangeAspect="1"/>
          </p:cNvPicPr>
          <p:nvPr/>
        </p:nvPicPr>
        <p:blipFill>
          <a:blip r:embed="rId1"/>
          <a:stretch>
            <a:fillRect/>
          </a:stretch>
        </p:blipFill>
        <p:spPr>
          <a:xfrm>
            <a:off x="983437" y="2492197"/>
            <a:ext cx="273406" cy="273406"/>
          </a:xfrm>
          <a:prstGeom prst="rect">
            <a:avLst/>
          </a:prstGeom>
        </p:spPr>
      </p:pic>
      <p:sp>
        <p:nvSpPr>
          <p:cNvPr id="7" name="Número paso 1"/>
          <p:cNvSpPr txBox="1"/>
          <p:nvPr/>
        </p:nvSpPr>
        <p:spPr>
          <a:xfrm>
            <a:off x="1554480" y="2441448"/>
            <a:ext cx="1241984" cy="365760"/>
          </a:xfrm>
          <a:prstGeom prst="rect">
            <a:avLst/>
          </a:prstGeom>
          <a:noFill/>
          <a:ln/>
        </p:spPr>
        <p:txBody>
          <a:bodyPr wrap="square" lIns="0" tIns="0" rIns="0" bIns="0" rtlCol="0" anchor="ctr"/>
          <a:lstStyle/>
          <a:p>
            <a:pPr indent="0" marL="0">
              <a:buNone/>
            </a:pPr>
            <a:r>
              <a:rPr lang="en-US" sz="1200" b="1" spc="200" kern="0" dirty="0">
                <a:solidFill>
                  <a:schemeClr val="accent1"/>
                </a:solidFill>
              </a:rPr>
              <a:t>PASO 1</a:t>
            </a:r>
            <a:endParaRPr lang="en-US" sz="1200" dirty="0"/>
          </a:p>
        </p:txBody>
      </p:sp>
      <p:sp>
        <p:nvSpPr>
          <p:cNvPr id="8" name="Script de Python"/>
          <p:cNvSpPr txBox="1"/>
          <p:nvPr/>
        </p:nvSpPr>
        <p:spPr>
          <a:xfrm>
            <a:off x="822960" y="3063240"/>
            <a:ext cx="1973504" cy="1005840"/>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Script de Python</a:t>
            </a:r>
            <a:endParaRPr lang="en-US" sz="1600" dirty="0"/>
          </a:p>
          <a:p>
            <a:pPr indent="0" marL="0">
              <a:spcAft>
                <a:spcPts val="200"/>
              </a:spcAft>
              <a:buNone/>
            </a:pPr>
            <a:r>
              <a:rPr lang="en-US" sz="1400" dirty="0">
                <a:solidFill>
                  <a:schemeClr val="accent5"/>
                </a:solidFill>
              </a:rPr>
              <a:t>Define la escena completa en código.</a:t>
            </a:r>
            <a:endParaRPr lang="en-US" sz="1600" dirty="0"/>
          </a:p>
        </p:txBody>
      </p:sp>
      <p:pic>
        <p:nvPicPr>
          <p:cNvPr id="9" name="Flecha 1" descr="Siguiente paso">    </p:cNvPr>
          <p:cNvPicPr>
            <a:picLocks noChangeAspect="1"/>
          </p:cNvPicPr>
          <p:nvPr/>
        </p:nvPicPr>
        <p:blipFill>
          <a:blip r:embed="rId2"/>
          <a:stretch>
            <a:fillRect/>
          </a:stretch>
        </p:blipFill>
        <p:spPr>
          <a:xfrm>
            <a:off x="3098216" y="3017520"/>
            <a:ext cx="219456" cy="219456"/>
          </a:xfrm>
          <a:prstGeom prst="rect">
            <a:avLst/>
          </a:prstGeom>
        </p:spPr>
      </p:pic>
      <p:sp>
        <p:nvSpPr>
          <p:cNvPr id="10" name="Paso 2"/>
          <p:cNvSpPr/>
          <p:nvPr/>
        </p:nvSpPr>
        <p:spPr>
          <a:xfrm>
            <a:off x="3436544" y="2103120"/>
            <a:ext cx="2430704" cy="2057400"/>
          </a:xfrm>
          <a:prstGeom prst="roundRect">
            <a:avLst>
              <a:gd name="adj" fmla="val 5333"/>
            </a:avLst>
          </a:prstGeom>
          <a:solidFill>
            <a:schemeClr val="bg2"/>
          </a:solidFill>
          <a:ln/>
        </p:spPr>
      </p:sp>
      <p:sp>
        <p:nvSpPr>
          <p:cNvPr id="11" name="Icono Blender sin interfaz (círculo)"/>
          <p:cNvSpPr/>
          <p:nvPr/>
        </p:nvSpPr>
        <p:spPr>
          <a:xfrm>
            <a:off x="3710864" y="2331720"/>
            <a:ext cx="594360" cy="594360"/>
          </a:xfrm>
          <a:prstGeom prst="ellipse">
            <a:avLst/>
          </a:prstGeom>
          <a:solidFill>
            <a:schemeClr val="accent1"/>
          </a:solidFill>
          <a:ln/>
        </p:spPr>
      </p:sp>
      <p:pic>
        <p:nvPicPr>
          <p:cNvPr id="12" name="Icono Blender sin interfaz" descr="Icono Blender sin interfaz">    </p:cNvPr>
          <p:cNvPicPr>
            <a:picLocks noChangeAspect="1"/>
          </p:cNvPicPr>
          <p:nvPr/>
        </p:nvPicPr>
        <p:blipFill>
          <a:blip r:embed="rId3"/>
          <a:stretch>
            <a:fillRect/>
          </a:stretch>
        </p:blipFill>
        <p:spPr>
          <a:xfrm>
            <a:off x="3871341" y="2492197"/>
            <a:ext cx="273406" cy="273406"/>
          </a:xfrm>
          <a:prstGeom prst="rect">
            <a:avLst/>
          </a:prstGeom>
        </p:spPr>
      </p:pic>
      <p:sp>
        <p:nvSpPr>
          <p:cNvPr id="13" name="Número paso 2"/>
          <p:cNvSpPr txBox="1"/>
          <p:nvPr/>
        </p:nvSpPr>
        <p:spPr>
          <a:xfrm>
            <a:off x="4442384" y="2441448"/>
            <a:ext cx="1241984" cy="365760"/>
          </a:xfrm>
          <a:prstGeom prst="rect">
            <a:avLst/>
          </a:prstGeom>
          <a:noFill/>
          <a:ln/>
        </p:spPr>
        <p:txBody>
          <a:bodyPr wrap="square" lIns="0" tIns="0" rIns="0" bIns="0" rtlCol="0" anchor="ctr"/>
          <a:lstStyle/>
          <a:p>
            <a:pPr indent="0" marL="0">
              <a:buNone/>
            </a:pPr>
            <a:r>
              <a:rPr lang="en-US" sz="1200" b="1" spc="200" kern="0" dirty="0">
                <a:solidFill>
                  <a:schemeClr val="accent1"/>
                </a:solidFill>
              </a:rPr>
              <a:t>PASO 2</a:t>
            </a:r>
            <a:endParaRPr lang="en-US" sz="1200" dirty="0"/>
          </a:p>
        </p:txBody>
      </p:sp>
      <p:sp>
        <p:nvSpPr>
          <p:cNvPr id="14" name="Blender sin interfaz"/>
          <p:cNvSpPr txBox="1"/>
          <p:nvPr/>
        </p:nvSpPr>
        <p:spPr>
          <a:xfrm>
            <a:off x="3710864" y="3063240"/>
            <a:ext cx="1973504" cy="1005840"/>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Blender sin interfaz</a:t>
            </a:r>
            <a:endParaRPr lang="en-US" sz="1600" dirty="0"/>
          </a:p>
          <a:p>
            <a:pPr indent="0" marL="0">
              <a:spcAft>
                <a:spcPts val="200"/>
              </a:spcAft>
              <a:buNone/>
            </a:pPr>
            <a:r>
              <a:rPr lang="en-US" sz="1400" dirty="0">
                <a:solidFill>
                  <a:schemeClr val="accent5"/>
                </a:solidFill>
              </a:rPr>
              <a:t>El script abre Blender en modo headless.</a:t>
            </a:r>
            <a:endParaRPr lang="en-US" sz="1600" dirty="0"/>
          </a:p>
        </p:txBody>
      </p:sp>
      <p:pic>
        <p:nvPicPr>
          <p:cNvPr id="15" name="Flecha 2" descr="Siguiente paso">    </p:cNvPr>
          <p:cNvPicPr>
            <a:picLocks noChangeAspect="1"/>
          </p:cNvPicPr>
          <p:nvPr/>
        </p:nvPicPr>
        <p:blipFill>
          <a:blip r:embed="rId4"/>
          <a:stretch>
            <a:fillRect/>
          </a:stretch>
        </p:blipFill>
        <p:spPr>
          <a:xfrm>
            <a:off x="5986120" y="3017520"/>
            <a:ext cx="219456" cy="219456"/>
          </a:xfrm>
          <a:prstGeom prst="rect">
            <a:avLst/>
          </a:prstGeom>
        </p:spPr>
      </p:pic>
      <p:sp>
        <p:nvSpPr>
          <p:cNvPr id="16" name="Paso 3"/>
          <p:cNvSpPr/>
          <p:nvPr/>
        </p:nvSpPr>
        <p:spPr>
          <a:xfrm>
            <a:off x="6324448" y="2103120"/>
            <a:ext cx="2430704" cy="2057400"/>
          </a:xfrm>
          <a:prstGeom prst="roundRect">
            <a:avLst>
              <a:gd name="adj" fmla="val 5333"/>
            </a:avLst>
          </a:prstGeom>
          <a:solidFill>
            <a:schemeClr val="bg2"/>
          </a:solidFill>
          <a:ln/>
        </p:spPr>
      </p:sp>
      <p:sp>
        <p:nvSpPr>
          <p:cNvPr id="17" name="Icono Construye y renderiza (círculo)"/>
          <p:cNvSpPr/>
          <p:nvPr/>
        </p:nvSpPr>
        <p:spPr>
          <a:xfrm>
            <a:off x="6598768" y="2331720"/>
            <a:ext cx="594360" cy="594360"/>
          </a:xfrm>
          <a:prstGeom prst="ellipse">
            <a:avLst/>
          </a:prstGeom>
          <a:solidFill>
            <a:schemeClr val="accent1"/>
          </a:solidFill>
          <a:ln/>
        </p:spPr>
      </p:sp>
      <p:pic>
        <p:nvPicPr>
          <p:cNvPr id="18" name="Icono Construye y renderiza" descr="Icono Construye y renderiza">    </p:cNvPr>
          <p:cNvPicPr>
            <a:picLocks noChangeAspect="1"/>
          </p:cNvPicPr>
          <p:nvPr/>
        </p:nvPicPr>
        <p:blipFill>
          <a:blip r:embed="rId5"/>
          <a:stretch>
            <a:fillRect/>
          </a:stretch>
        </p:blipFill>
        <p:spPr>
          <a:xfrm>
            <a:off x="6759245" y="2492197"/>
            <a:ext cx="273406" cy="273406"/>
          </a:xfrm>
          <a:prstGeom prst="rect">
            <a:avLst/>
          </a:prstGeom>
        </p:spPr>
      </p:pic>
      <p:sp>
        <p:nvSpPr>
          <p:cNvPr id="19" name="Número paso 3"/>
          <p:cNvSpPr txBox="1"/>
          <p:nvPr/>
        </p:nvSpPr>
        <p:spPr>
          <a:xfrm>
            <a:off x="7330288" y="2441448"/>
            <a:ext cx="1241984" cy="365760"/>
          </a:xfrm>
          <a:prstGeom prst="rect">
            <a:avLst/>
          </a:prstGeom>
          <a:noFill/>
          <a:ln/>
        </p:spPr>
        <p:txBody>
          <a:bodyPr wrap="square" lIns="0" tIns="0" rIns="0" bIns="0" rtlCol="0" anchor="ctr"/>
          <a:lstStyle/>
          <a:p>
            <a:pPr indent="0" marL="0">
              <a:buNone/>
            </a:pPr>
            <a:r>
              <a:rPr lang="en-US" sz="1200" b="1" spc="200" kern="0" dirty="0">
                <a:solidFill>
                  <a:schemeClr val="accent1"/>
                </a:solidFill>
              </a:rPr>
              <a:t>PASO 3</a:t>
            </a:r>
            <a:endParaRPr lang="en-US" sz="1200" dirty="0"/>
          </a:p>
        </p:txBody>
      </p:sp>
      <p:sp>
        <p:nvSpPr>
          <p:cNvPr id="20" name="Construye y renderiza"/>
          <p:cNvSpPr txBox="1"/>
          <p:nvPr/>
        </p:nvSpPr>
        <p:spPr>
          <a:xfrm>
            <a:off x="6598768" y="3063240"/>
            <a:ext cx="1973504" cy="1005840"/>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Construye y renderiza</a:t>
            </a:r>
            <a:endParaRPr lang="en-US" sz="1600" dirty="0"/>
          </a:p>
          <a:p>
            <a:pPr indent="0" marL="0">
              <a:spcAft>
                <a:spcPts val="200"/>
              </a:spcAft>
              <a:buNone/>
            </a:pPr>
            <a:r>
              <a:rPr lang="en-US" sz="1400" dirty="0">
                <a:solidFill>
                  <a:schemeClr val="accent5"/>
                </a:solidFill>
              </a:rPr>
              <a:t>Arma la escena de cero y genera la imagen.</a:t>
            </a:r>
            <a:endParaRPr lang="en-US" sz="1600" dirty="0"/>
          </a:p>
        </p:txBody>
      </p:sp>
      <p:pic>
        <p:nvPicPr>
          <p:cNvPr id="21" name="Flecha 3" descr="Siguiente paso">    </p:cNvPr>
          <p:cNvPicPr>
            <a:picLocks noChangeAspect="1"/>
          </p:cNvPicPr>
          <p:nvPr/>
        </p:nvPicPr>
        <p:blipFill>
          <a:blip r:embed="rId6"/>
          <a:stretch>
            <a:fillRect/>
          </a:stretch>
        </p:blipFill>
        <p:spPr>
          <a:xfrm>
            <a:off x="8874023" y="3017520"/>
            <a:ext cx="219456" cy="219456"/>
          </a:xfrm>
          <a:prstGeom prst="rect">
            <a:avLst/>
          </a:prstGeom>
        </p:spPr>
      </p:pic>
      <p:sp>
        <p:nvSpPr>
          <p:cNvPr id="22" name="Paso 4"/>
          <p:cNvSpPr/>
          <p:nvPr/>
        </p:nvSpPr>
        <p:spPr>
          <a:xfrm>
            <a:off x="9212351" y="2103120"/>
            <a:ext cx="2430704" cy="2057400"/>
          </a:xfrm>
          <a:prstGeom prst="roundRect">
            <a:avLst>
              <a:gd name="adj" fmla="val 5333"/>
            </a:avLst>
          </a:prstGeom>
          <a:solidFill>
            <a:schemeClr val="bg2"/>
          </a:solidFill>
          <a:ln/>
        </p:spPr>
      </p:sp>
      <p:sp>
        <p:nvSpPr>
          <p:cNvPr id="23" name="Icono Se cierra (círculo)"/>
          <p:cNvSpPr/>
          <p:nvPr/>
        </p:nvSpPr>
        <p:spPr>
          <a:xfrm>
            <a:off x="9486671" y="2331720"/>
            <a:ext cx="594360" cy="594360"/>
          </a:xfrm>
          <a:prstGeom prst="ellipse">
            <a:avLst/>
          </a:prstGeom>
          <a:solidFill>
            <a:schemeClr val="accent1"/>
          </a:solidFill>
          <a:ln/>
        </p:spPr>
      </p:sp>
      <p:pic>
        <p:nvPicPr>
          <p:cNvPr id="24" name="Icono Se cierra" descr="Icono Se cierra">    </p:cNvPr>
          <p:cNvPicPr>
            <a:picLocks noChangeAspect="1"/>
          </p:cNvPicPr>
          <p:nvPr/>
        </p:nvPicPr>
        <p:blipFill>
          <a:blip r:embed="rId7"/>
          <a:stretch>
            <a:fillRect/>
          </a:stretch>
        </p:blipFill>
        <p:spPr>
          <a:xfrm>
            <a:off x="9647149" y="2492197"/>
            <a:ext cx="273406" cy="273406"/>
          </a:xfrm>
          <a:prstGeom prst="rect">
            <a:avLst/>
          </a:prstGeom>
        </p:spPr>
      </p:pic>
      <p:sp>
        <p:nvSpPr>
          <p:cNvPr id="25" name="Número paso 4"/>
          <p:cNvSpPr txBox="1"/>
          <p:nvPr/>
        </p:nvSpPr>
        <p:spPr>
          <a:xfrm>
            <a:off x="10218191" y="2441448"/>
            <a:ext cx="1241984" cy="365760"/>
          </a:xfrm>
          <a:prstGeom prst="rect">
            <a:avLst/>
          </a:prstGeom>
          <a:noFill/>
          <a:ln/>
        </p:spPr>
        <p:txBody>
          <a:bodyPr wrap="square" lIns="0" tIns="0" rIns="0" bIns="0" rtlCol="0" anchor="ctr"/>
          <a:lstStyle/>
          <a:p>
            <a:pPr indent="0" marL="0">
              <a:buNone/>
            </a:pPr>
            <a:r>
              <a:rPr lang="en-US" sz="1200" b="1" spc="200" kern="0" dirty="0">
                <a:solidFill>
                  <a:schemeClr val="accent1"/>
                </a:solidFill>
              </a:rPr>
              <a:t>PASO 4</a:t>
            </a:r>
            <a:endParaRPr lang="en-US" sz="1200" dirty="0"/>
          </a:p>
        </p:txBody>
      </p:sp>
      <p:sp>
        <p:nvSpPr>
          <p:cNvPr id="26" name="Se cierra"/>
          <p:cNvSpPr txBox="1"/>
          <p:nvPr/>
        </p:nvSpPr>
        <p:spPr>
          <a:xfrm>
            <a:off x="9486671" y="3063240"/>
            <a:ext cx="1973504" cy="1005840"/>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Se cierra</a:t>
            </a:r>
            <a:endParaRPr lang="en-US" sz="1600" dirty="0"/>
          </a:p>
          <a:p>
            <a:pPr indent="0" marL="0">
              <a:spcAft>
                <a:spcPts val="200"/>
              </a:spcAft>
              <a:buNone/>
            </a:pPr>
            <a:r>
              <a:rPr lang="en-US" sz="1400" dirty="0">
                <a:solidFill>
                  <a:schemeClr val="accent5"/>
                </a:solidFill>
              </a:rPr>
              <a:t>Blender termina y deja el resultado.</a:t>
            </a:r>
            <a:endParaRPr lang="en-US" sz="1600" dirty="0"/>
          </a:p>
        </p:txBody>
      </p:sp>
      <p:sp>
        <p:nvSpPr>
          <p:cNvPr id="27" name="Ciclo de corrección"/>
          <p:cNvSpPr/>
          <p:nvPr/>
        </p:nvSpPr>
        <p:spPr>
          <a:xfrm>
            <a:off x="548640" y="4480560"/>
            <a:ext cx="7223760" cy="1508760"/>
          </a:xfrm>
          <a:prstGeom prst="roundRect">
            <a:avLst>
              <a:gd name="adj" fmla="val 7273"/>
            </a:avLst>
          </a:prstGeom>
          <a:solidFill>
            <a:schemeClr val="accent1">
              <a:alpha val="12000"/>
            </a:schemeClr>
          </a:solidFill>
          <a:ln/>
        </p:spPr>
      </p:sp>
      <p:sp>
        <p:nvSpPr>
          <p:cNvPr id="28" name="Icono de repetir (círculo)"/>
          <p:cNvSpPr/>
          <p:nvPr/>
        </p:nvSpPr>
        <p:spPr>
          <a:xfrm>
            <a:off x="822960" y="4910328"/>
            <a:ext cx="640080" cy="640080"/>
          </a:xfrm>
          <a:prstGeom prst="ellipse">
            <a:avLst/>
          </a:prstGeom>
          <a:solidFill>
            <a:schemeClr val="accent1"/>
          </a:solidFill>
          <a:ln/>
        </p:spPr>
      </p:sp>
      <p:pic>
        <p:nvPicPr>
          <p:cNvPr id="29" name="Icono de repetir" descr="Icono de repetir">    </p:cNvPr>
          <p:cNvPicPr>
            <a:picLocks noChangeAspect="1"/>
          </p:cNvPicPr>
          <p:nvPr/>
        </p:nvPicPr>
        <p:blipFill>
          <a:blip r:embed="rId8"/>
          <a:stretch>
            <a:fillRect/>
          </a:stretch>
        </p:blipFill>
        <p:spPr>
          <a:xfrm>
            <a:off x="995782" y="5083150"/>
            <a:ext cx="294437" cy="294437"/>
          </a:xfrm>
          <a:prstGeom prst="rect">
            <a:avLst/>
          </a:prstGeom>
        </p:spPr>
      </p:pic>
      <p:sp>
        <p:nvSpPr>
          <p:cNvPr id="30" name="Texto ciclo"/>
          <p:cNvSpPr txBox="1"/>
          <p:nvPr/>
        </p:nvSpPr>
        <p:spPr>
          <a:xfrm>
            <a:off x="1691640" y="4617720"/>
            <a:ext cx="5852160" cy="1234440"/>
          </a:xfrm>
          <a:prstGeom prst="rect">
            <a:avLst/>
          </a:prstGeom>
          <a:noFill/>
          <a:ln/>
        </p:spPr>
        <p:txBody>
          <a:bodyPr wrap="square" lIns="0" tIns="0" rIns="0" bIns="0" rtlCol="0" anchor="ctr"/>
          <a:lstStyle/>
          <a:p>
            <a:pPr indent="0" marL="0">
              <a:spcAft>
                <a:spcPts val="200"/>
              </a:spcAft>
              <a:buNone/>
            </a:pPr>
            <a:r>
              <a:rPr lang="en-US" sz="1600" b="1" dirty="0">
                <a:solidFill>
                  <a:schemeClr val="tx1"/>
                </a:solidFill>
              </a:rPr>
              <a:t>Para corregir algo</a:t>
            </a:r>
            <a:endParaRPr lang="en-US" sz="1600" dirty="0"/>
          </a:p>
          <a:p>
            <a:pPr indent="0" marL="0">
              <a:spcAft>
                <a:spcPts val="200"/>
              </a:spcAft>
              <a:buNone/>
            </a:pPr>
            <a:r>
              <a:rPr lang="en-US" sz="1400" dirty="0">
                <a:solidFill>
                  <a:schemeClr val="tx1"/>
                </a:solidFill>
              </a:rPr>
              <a:t>Se ajusta el código, se vuelve a correr y se revisa el resultado en una imagen, en cada iteración.</a:t>
            </a:r>
            <a:endParaRPr lang="en-US" sz="1600" dirty="0"/>
          </a:p>
        </p:txBody>
      </p:sp>
      <p:sp>
        <p:nvSpPr>
          <p:cNvPr id="31" name="Insignia 100 % reproducible"/>
          <p:cNvSpPr/>
          <p:nvPr/>
        </p:nvSpPr>
        <p:spPr>
          <a:xfrm>
            <a:off x="8092440" y="4480560"/>
            <a:ext cx="3550615" cy="722376"/>
          </a:xfrm>
          <a:prstGeom prst="roundRect">
            <a:avLst>
              <a:gd name="adj" fmla="val 15190"/>
            </a:avLst>
          </a:prstGeom>
          <a:solidFill>
            <a:schemeClr val="accent3">
              <a:alpha val="15000"/>
            </a:schemeClr>
          </a:solidFill>
          <a:ln/>
        </p:spPr>
      </p:sp>
      <p:sp>
        <p:nvSpPr>
          <p:cNvPr id="32" name="Icono 100 % reproducible (círculo)"/>
          <p:cNvSpPr/>
          <p:nvPr/>
        </p:nvSpPr>
        <p:spPr>
          <a:xfrm>
            <a:off x="8293608" y="4636008"/>
            <a:ext cx="411480" cy="411480"/>
          </a:xfrm>
          <a:prstGeom prst="ellipse">
            <a:avLst/>
          </a:prstGeom>
          <a:solidFill>
            <a:schemeClr val="accent3"/>
          </a:solidFill>
          <a:ln/>
        </p:spPr>
      </p:sp>
      <p:pic>
        <p:nvPicPr>
          <p:cNvPr id="33" name="Icono 100 % reproducible" descr="Icono 100 % reproducible">    </p:cNvPr>
          <p:cNvPicPr>
            <a:picLocks noChangeAspect="1"/>
          </p:cNvPicPr>
          <p:nvPr/>
        </p:nvPicPr>
        <p:blipFill>
          <a:blip r:embed="rId9"/>
          <a:stretch>
            <a:fillRect/>
          </a:stretch>
        </p:blipFill>
        <p:spPr>
          <a:xfrm>
            <a:off x="8404708" y="4747108"/>
            <a:ext cx="189281" cy="189281"/>
          </a:xfrm>
          <a:prstGeom prst="rect">
            <a:avLst/>
          </a:prstGeom>
        </p:spPr>
      </p:pic>
      <p:sp>
        <p:nvSpPr>
          <p:cNvPr id="34" name="100 % reproducible"/>
          <p:cNvSpPr txBox="1"/>
          <p:nvPr/>
        </p:nvSpPr>
        <p:spPr>
          <a:xfrm>
            <a:off x="8869680" y="4480560"/>
            <a:ext cx="2636215" cy="722376"/>
          </a:xfrm>
          <a:prstGeom prst="rect">
            <a:avLst/>
          </a:prstGeom>
          <a:noFill/>
          <a:ln/>
        </p:spPr>
        <p:txBody>
          <a:bodyPr wrap="square" lIns="0" tIns="0" rIns="0" bIns="0" rtlCol="0" anchor="ctr"/>
          <a:lstStyle/>
          <a:p>
            <a:pPr indent="0" marL="0">
              <a:buNone/>
            </a:pPr>
            <a:r>
              <a:rPr lang="en-US" sz="1600" b="1" dirty="0">
                <a:solidFill>
                  <a:schemeClr val="tx1"/>
                </a:solidFill>
              </a:rPr>
              <a:t>100 % reproducible</a:t>
            </a:r>
            <a:endParaRPr lang="en-US" sz="1600" dirty="0"/>
          </a:p>
        </p:txBody>
      </p:sp>
      <p:sp>
        <p:nvSpPr>
          <p:cNvPr id="35" name="Insignia Sin dependencias externas"/>
          <p:cNvSpPr/>
          <p:nvPr/>
        </p:nvSpPr>
        <p:spPr>
          <a:xfrm>
            <a:off x="8092440" y="5266944"/>
            <a:ext cx="3550615" cy="722376"/>
          </a:xfrm>
          <a:prstGeom prst="roundRect">
            <a:avLst>
              <a:gd name="adj" fmla="val 15190"/>
            </a:avLst>
          </a:prstGeom>
          <a:solidFill>
            <a:schemeClr val="accent3">
              <a:alpha val="15000"/>
            </a:schemeClr>
          </a:solidFill>
          <a:ln/>
        </p:spPr>
      </p:sp>
      <p:sp>
        <p:nvSpPr>
          <p:cNvPr id="36" name="Icono Sin dependencias externas (círculo)"/>
          <p:cNvSpPr/>
          <p:nvPr/>
        </p:nvSpPr>
        <p:spPr>
          <a:xfrm>
            <a:off x="8293608" y="5422392"/>
            <a:ext cx="411480" cy="411480"/>
          </a:xfrm>
          <a:prstGeom prst="ellipse">
            <a:avLst/>
          </a:prstGeom>
          <a:solidFill>
            <a:schemeClr val="accent3"/>
          </a:solidFill>
          <a:ln/>
        </p:spPr>
      </p:sp>
      <p:pic>
        <p:nvPicPr>
          <p:cNvPr id="37" name="Icono Sin dependencias externas" descr="Icono Sin dependencias externas">    </p:cNvPr>
          <p:cNvPicPr>
            <a:picLocks noChangeAspect="1"/>
          </p:cNvPicPr>
          <p:nvPr/>
        </p:nvPicPr>
        <p:blipFill>
          <a:blip r:embed="rId10"/>
          <a:stretch>
            <a:fillRect/>
          </a:stretch>
        </p:blipFill>
        <p:spPr>
          <a:xfrm>
            <a:off x="8404708" y="5533492"/>
            <a:ext cx="189281" cy="189281"/>
          </a:xfrm>
          <a:prstGeom prst="rect">
            <a:avLst/>
          </a:prstGeom>
        </p:spPr>
      </p:pic>
      <p:sp>
        <p:nvSpPr>
          <p:cNvPr id="38" name="Sin dependencias externas"/>
          <p:cNvSpPr txBox="1"/>
          <p:nvPr/>
        </p:nvSpPr>
        <p:spPr>
          <a:xfrm>
            <a:off x="8869680" y="5266944"/>
            <a:ext cx="2636215" cy="722376"/>
          </a:xfrm>
          <a:prstGeom prst="rect">
            <a:avLst/>
          </a:prstGeom>
          <a:noFill/>
          <a:ln/>
        </p:spPr>
        <p:txBody>
          <a:bodyPr wrap="square" lIns="0" tIns="0" rIns="0" bIns="0" rtlCol="0" anchor="ctr"/>
          <a:lstStyle/>
          <a:p>
            <a:pPr indent="0" marL="0">
              <a:buNone/>
            </a:pPr>
            <a:r>
              <a:rPr lang="en-US" sz="1600" b="1" dirty="0">
                <a:solidFill>
                  <a:schemeClr val="tx1"/>
                </a:solidFill>
              </a:rPr>
              <a:t>Sin dependencias externas</a:t>
            </a:r>
            <a:endParaRPr lang="en-US" sz="16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600" b="1" dirty="0">
                <a:solidFill>
                  <a:schemeClr val="bg1"/>
                </a:solidFill>
              </a:rPr>
              <a:t>En resumen</a:t>
            </a:r>
            <a:endParaRPr lang="en-US" sz="3600" dirty="0"/>
          </a:p>
        </p:txBody>
      </p:sp>
      <p:sp>
        <p:nvSpPr>
          <p:cNvPr id="3" name="Resumen ≈ 2 h 15 min"/>
          <p:cNvSpPr/>
          <p:nvPr/>
        </p:nvSpPr>
        <p:spPr>
          <a:xfrm>
            <a:off x="548640" y="1508760"/>
            <a:ext cx="5387188" cy="1645920"/>
          </a:xfrm>
          <a:prstGeom prst="roundRect">
            <a:avLst>
              <a:gd name="adj" fmla="val 6667"/>
            </a:avLst>
          </a:prstGeom>
          <a:solidFill>
            <a:schemeClr val="bg1">
              <a:alpha val="8000"/>
            </a:schemeClr>
          </a:solidFill>
          <a:ln/>
        </p:spPr>
      </p:sp>
      <p:sp>
        <p:nvSpPr>
          <p:cNvPr id="4" name="Icono ≈ 2 h 15 min (círculo)"/>
          <p:cNvSpPr/>
          <p:nvPr/>
        </p:nvSpPr>
        <p:spPr>
          <a:xfrm>
            <a:off x="868680" y="2011680"/>
            <a:ext cx="640080" cy="640080"/>
          </a:xfrm>
          <a:prstGeom prst="ellipse">
            <a:avLst/>
          </a:prstGeom>
          <a:solidFill>
            <a:schemeClr val="accent4"/>
          </a:solidFill>
          <a:ln/>
        </p:spPr>
      </p:sp>
      <p:pic>
        <p:nvPicPr>
          <p:cNvPr id="5" name="Icono ≈ 2 h 15 min" descr="Icono ≈ 2 h 15 min">    </p:cNvPr>
          <p:cNvPicPr>
            <a:picLocks noChangeAspect="1"/>
          </p:cNvPicPr>
          <p:nvPr/>
        </p:nvPicPr>
        <p:blipFill>
          <a:blip r:embed="rId1"/>
          <a:stretch>
            <a:fillRect/>
          </a:stretch>
        </p:blipFill>
        <p:spPr>
          <a:xfrm>
            <a:off x="1041502" y="2184502"/>
            <a:ext cx="294437" cy="294437"/>
          </a:xfrm>
          <a:prstGeom prst="rect">
            <a:avLst/>
          </a:prstGeom>
        </p:spPr>
      </p:pic>
      <p:sp>
        <p:nvSpPr>
          <p:cNvPr id="6" name="Texto ≈ 2 h 15 min"/>
          <p:cNvSpPr txBox="1"/>
          <p:nvPr/>
        </p:nvSpPr>
        <p:spPr>
          <a:xfrm>
            <a:off x="1737360" y="1691640"/>
            <a:ext cx="3969868" cy="1280160"/>
          </a:xfrm>
          <a:prstGeom prst="rect">
            <a:avLst/>
          </a:prstGeom>
          <a:noFill/>
          <a:ln/>
        </p:spPr>
        <p:txBody>
          <a:bodyPr wrap="square" lIns="0" tIns="0" rIns="0" bIns="0" rtlCol="0" anchor="ctr"/>
          <a:lstStyle/>
          <a:p>
            <a:pPr indent="0" marL="0">
              <a:spcAft>
                <a:spcPts val="200"/>
              </a:spcAft>
              <a:buNone/>
            </a:pPr>
            <a:r>
              <a:rPr lang="en-US" sz="2800" b="1" dirty="0">
                <a:solidFill>
                  <a:schemeClr val="bg1"/>
                </a:solidFill>
                <a:latin typeface="Cambria" pitchFamily="34" charset="0"/>
                <a:ea typeface="Cambria" pitchFamily="34" charset="-122"/>
                <a:cs typeface="Cambria" pitchFamily="34" charset="-120"/>
              </a:rPr>
              <a:t>≈ 2 h 15 min</a:t>
            </a:r>
            <a:endParaRPr lang="en-US" sz="2800" dirty="0"/>
          </a:p>
          <a:p>
            <a:pPr indent="0" marL="0">
              <a:spcAft>
                <a:spcPts val="200"/>
              </a:spcAft>
              <a:buNone/>
            </a:pPr>
            <a:r>
              <a:rPr lang="en-US" sz="1400" dirty="0">
                <a:solidFill>
                  <a:schemeClr val="bg2"/>
                </a:solidFill>
              </a:rPr>
              <a:t>1 h 35 min de trabajo activo + 40 min de render en 4K</a:t>
            </a:r>
            <a:endParaRPr lang="en-US" sz="2800" dirty="0"/>
          </a:p>
        </p:txBody>
      </p:sp>
      <p:sp>
        <p:nvSpPr>
          <p:cNvPr id="7" name="Resumen 2,5 MB"/>
          <p:cNvSpPr/>
          <p:nvPr/>
        </p:nvSpPr>
        <p:spPr>
          <a:xfrm>
            <a:off x="6255868" y="1508760"/>
            <a:ext cx="5387188" cy="1645920"/>
          </a:xfrm>
          <a:prstGeom prst="roundRect">
            <a:avLst>
              <a:gd name="adj" fmla="val 6667"/>
            </a:avLst>
          </a:prstGeom>
          <a:solidFill>
            <a:schemeClr val="bg1">
              <a:alpha val="8000"/>
            </a:schemeClr>
          </a:solidFill>
          <a:ln/>
        </p:spPr>
      </p:sp>
      <p:sp>
        <p:nvSpPr>
          <p:cNvPr id="8" name="Icono 2,5 MB (círculo)"/>
          <p:cNvSpPr/>
          <p:nvPr/>
        </p:nvSpPr>
        <p:spPr>
          <a:xfrm>
            <a:off x="6575908" y="2011680"/>
            <a:ext cx="640080" cy="640080"/>
          </a:xfrm>
          <a:prstGeom prst="ellipse">
            <a:avLst/>
          </a:prstGeom>
          <a:solidFill>
            <a:schemeClr val="accent4"/>
          </a:solidFill>
          <a:ln/>
        </p:spPr>
      </p:sp>
      <p:pic>
        <p:nvPicPr>
          <p:cNvPr id="9" name="Icono 2,5 MB" descr="Icono 2,5 MB">    </p:cNvPr>
          <p:cNvPicPr>
            <a:picLocks noChangeAspect="1"/>
          </p:cNvPicPr>
          <p:nvPr/>
        </p:nvPicPr>
        <p:blipFill>
          <a:blip r:embed="rId2"/>
          <a:stretch>
            <a:fillRect/>
          </a:stretch>
        </p:blipFill>
        <p:spPr>
          <a:xfrm>
            <a:off x="6748729" y="2184502"/>
            <a:ext cx="294437" cy="294437"/>
          </a:xfrm>
          <a:prstGeom prst="rect">
            <a:avLst/>
          </a:prstGeom>
        </p:spPr>
      </p:pic>
      <p:sp>
        <p:nvSpPr>
          <p:cNvPr id="10" name="Texto 2,5 MB"/>
          <p:cNvSpPr txBox="1"/>
          <p:nvPr/>
        </p:nvSpPr>
        <p:spPr>
          <a:xfrm>
            <a:off x="7444588" y="1691640"/>
            <a:ext cx="3969868" cy="1280160"/>
          </a:xfrm>
          <a:prstGeom prst="rect">
            <a:avLst/>
          </a:prstGeom>
          <a:noFill/>
          <a:ln/>
        </p:spPr>
        <p:txBody>
          <a:bodyPr wrap="square" lIns="0" tIns="0" rIns="0" bIns="0" rtlCol="0" anchor="ctr"/>
          <a:lstStyle/>
          <a:p>
            <a:pPr indent="0" marL="0">
              <a:spcAft>
                <a:spcPts val="200"/>
              </a:spcAft>
              <a:buNone/>
            </a:pPr>
            <a:r>
              <a:rPr lang="en-US" sz="2800" b="1" dirty="0">
                <a:solidFill>
                  <a:schemeClr val="bg1"/>
                </a:solidFill>
                <a:latin typeface="Cambria" pitchFamily="34" charset="0"/>
                <a:ea typeface="Cambria" pitchFamily="34" charset="-122"/>
                <a:cs typeface="Cambria" pitchFamily="34" charset="-120"/>
              </a:rPr>
              <a:t>2,5 MB</a:t>
            </a:r>
            <a:endParaRPr lang="en-US" sz="2800" dirty="0"/>
          </a:p>
          <a:p>
            <a:pPr indent="0" marL="0">
              <a:spcAft>
                <a:spcPts val="200"/>
              </a:spcAft>
              <a:buNone/>
            </a:pPr>
            <a:r>
              <a:rPr lang="en-US" sz="1400" dirty="0">
                <a:solidFill>
                  <a:schemeClr val="bg2"/>
                </a:solidFill>
              </a:rPr>
              <a:t>un .blend 100 % procedural, con 394.000 triángulos</a:t>
            </a:r>
            <a:endParaRPr lang="en-US" sz="2800" dirty="0"/>
          </a:p>
        </p:txBody>
      </p:sp>
      <p:sp>
        <p:nvSpPr>
          <p:cNvPr id="11" name="Resumen 60 %"/>
          <p:cNvSpPr/>
          <p:nvPr/>
        </p:nvSpPr>
        <p:spPr>
          <a:xfrm>
            <a:off x="548640" y="3429000"/>
            <a:ext cx="5387188" cy="1645920"/>
          </a:xfrm>
          <a:prstGeom prst="roundRect">
            <a:avLst>
              <a:gd name="adj" fmla="val 6667"/>
            </a:avLst>
          </a:prstGeom>
          <a:solidFill>
            <a:schemeClr val="bg1">
              <a:alpha val="8000"/>
            </a:schemeClr>
          </a:solidFill>
          <a:ln/>
        </p:spPr>
      </p:sp>
      <p:sp>
        <p:nvSpPr>
          <p:cNvPr id="12" name="Icono 60 % (círculo)"/>
          <p:cNvSpPr/>
          <p:nvPr/>
        </p:nvSpPr>
        <p:spPr>
          <a:xfrm>
            <a:off x="868680" y="3931920"/>
            <a:ext cx="640080" cy="640080"/>
          </a:xfrm>
          <a:prstGeom prst="ellipse">
            <a:avLst/>
          </a:prstGeom>
          <a:solidFill>
            <a:schemeClr val="accent4"/>
          </a:solidFill>
          <a:ln/>
        </p:spPr>
      </p:sp>
      <p:pic>
        <p:nvPicPr>
          <p:cNvPr id="13" name="Icono 60 %" descr="Icono 60 %">    </p:cNvPr>
          <p:cNvPicPr>
            <a:picLocks noChangeAspect="1"/>
          </p:cNvPicPr>
          <p:nvPr/>
        </p:nvPicPr>
        <p:blipFill>
          <a:blip r:embed="rId3"/>
          <a:stretch>
            <a:fillRect/>
          </a:stretch>
        </p:blipFill>
        <p:spPr>
          <a:xfrm>
            <a:off x="1041502" y="4104742"/>
            <a:ext cx="294437" cy="294437"/>
          </a:xfrm>
          <a:prstGeom prst="rect">
            <a:avLst/>
          </a:prstGeom>
        </p:spPr>
      </p:pic>
      <p:sp>
        <p:nvSpPr>
          <p:cNvPr id="14" name="Texto 60 %"/>
          <p:cNvSpPr txBox="1"/>
          <p:nvPr/>
        </p:nvSpPr>
        <p:spPr>
          <a:xfrm>
            <a:off x="1737360" y="3611880"/>
            <a:ext cx="3969868" cy="1280160"/>
          </a:xfrm>
          <a:prstGeom prst="rect">
            <a:avLst/>
          </a:prstGeom>
          <a:noFill/>
          <a:ln/>
        </p:spPr>
        <p:txBody>
          <a:bodyPr wrap="square" lIns="0" tIns="0" rIns="0" bIns="0" rtlCol="0" anchor="ctr"/>
          <a:lstStyle/>
          <a:p>
            <a:pPr indent="0" marL="0">
              <a:spcAft>
                <a:spcPts val="200"/>
              </a:spcAft>
              <a:buNone/>
            </a:pPr>
            <a:r>
              <a:rPr lang="en-US" sz="2800" b="1" dirty="0">
                <a:solidFill>
                  <a:schemeClr val="bg1"/>
                </a:solidFill>
                <a:latin typeface="Cambria" pitchFamily="34" charset="0"/>
                <a:ea typeface="Cambria" pitchFamily="34" charset="-122"/>
                <a:cs typeface="Cambria" pitchFamily="34" charset="-120"/>
              </a:rPr>
              <a:t>60 %</a:t>
            </a:r>
            <a:endParaRPr lang="en-US" sz="2800" dirty="0"/>
          </a:p>
          <a:p>
            <a:pPr indent="0" marL="0">
              <a:spcAft>
                <a:spcPts val="200"/>
              </a:spcAft>
              <a:buNone/>
            </a:pPr>
            <a:r>
              <a:rPr lang="en-US" sz="1400" dirty="0">
                <a:solidFill>
                  <a:schemeClr val="bg2"/>
                </a:solidFill>
              </a:rPr>
              <a:t>de los triángulos son árboles de fondo: el hallazgo más claro para aligerar</a:t>
            </a:r>
            <a:endParaRPr lang="en-US" sz="2800" dirty="0"/>
          </a:p>
        </p:txBody>
      </p:sp>
      <p:sp>
        <p:nvSpPr>
          <p:cNvPr id="15" name="Resumen 100 % reproducible"/>
          <p:cNvSpPr/>
          <p:nvPr/>
        </p:nvSpPr>
        <p:spPr>
          <a:xfrm>
            <a:off x="6255868" y="3429000"/>
            <a:ext cx="5387188" cy="1645920"/>
          </a:xfrm>
          <a:prstGeom prst="roundRect">
            <a:avLst>
              <a:gd name="adj" fmla="val 6667"/>
            </a:avLst>
          </a:prstGeom>
          <a:solidFill>
            <a:schemeClr val="bg1">
              <a:alpha val="8000"/>
            </a:schemeClr>
          </a:solidFill>
          <a:ln/>
        </p:spPr>
      </p:sp>
      <p:sp>
        <p:nvSpPr>
          <p:cNvPr id="16" name="Icono 100 % reproducible (círculo)"/>
          <p:cNvSpPr/>
          <p:nvPr/>
        </p:nvSpPr>
        <p:spPr>
          <a:xfrm>
            <a:off x="6575908" y="3931920"/>
            <a:ext cx="640080" cy="640080"/>
          </a:xfrm>
          <a:prstGeom prst="ellipse">
            <a:avLst/>
          </a:prstGeom>
          <a:solidFill>
            <a:schemeClr val="accent4"/>
          </a:solidFill>
          <a:ln/>
        </p:spPr>
      </p:sp>
      <p:pic>
        <p:nvPicPr>
          <p:cNvPr id="17" name="Icono 100 % reproducible" descr="Icono 100 % reproducible">    </p:cNvPr>
          <p:cNvPicPr>
            <a:picLocks noChangeAspect="1"/>
          </p:cNvPicPr>
          <p:nvPr/>
        </p:nvPicPr>
        <p:blipFill>
          <a:blip r:embed="rId4"/>
          <a:stretch>
            <a:fillRect/>
          </a:stretch>
        </p:blipFill>
        <p:spPr>
          <a:xfrm>
            <a:off x="6748729" y="4104742"/>
            <a:ext cx="294437" cy="294437"/>
          </a:xfrm>
          <a:prstGeom prst="rect">
            <a:avLst/>
          </a:prstGeom>
        </p:spPr>
      </p:pic>
      <p:sp>
        <p:nvSpPr>
          <p:cNvPr id="18" name="Texto 100 % reproducible"/>
          <p:cNvSpPr txBox="1"/>
          <p:nvPr/>
        </p:nvSpPr>
        <p:spPr>
          <a:xfrm>
            <a:off x="7444588" y="3611880"/>
            <a:ext cx="3969868" cy="1280160"/>
          </a:xfrm>
          <a:prstGeom prst="rect">
            <a:avLst/>
          </a:prstGeom>
          <a:noFill/>
          <a:ln/>
        </p:spPr>
        <p:txBody>
          <a:bodyPr wrap="square" lIns="0" tIns="0" rIns="0" bIns="0" rtlCol="0" anchor="ctr"/>
          <a:lstStyle/>
          <a:p>
            <a:pPr indent="0" marL="0">
              <a:spcAft>
                <a:spcPts val="200"/>
              </a:spcAft>
              <a:buNone/>
            </a:pPr>
            <a:r>
              <a:rPr lang="en-US" sz="2800" b="1" dirty="0">
                <a:solidFill>
                  <a:schemeClr val="bg1"/>
                </a:solidFill>
                <a:latin typeface="Cambria" pitchFamily="34" charset="0"/>
                <a:ea typeface="Cambria" pitchFamily="34" charset="-122"/>
                <a:cs typeface="Cambria" pitchFamily="34" charset="-120"/>
              </a:rPr>
              <a:t>100 % reproducible</a:t>
            </a:r>
            <a:endParaRPr lang="en-US" sz="2800" dirty="0"/>
          </a:p>
          <a:p>
            <a:pPr indent="0" marL="0">
              <a:spcAft>
                <a:spcPts val="200"/>
              </a:spcAft>
              <a:buNone/>
            </a:pPr>
            <a:r>
              <a:rPr lang="en-US" sz="1400" dirty="0">
                <a:solidFill>
                  <a:schemeClr val="bg2"/>
                </a:solidFill>
              </a:rPr>
              <a:t>script de Python + Blender headless, sin MCP ni descargas</a:t>
            </a:r>
            <a:endParaRPr lang="en-US" sz="2800" dirty="0"/>
          </a:p>
        </p:txBody>
      </p:sp>
      <p:pic>
        <p:nvPicPr>
          <p:cNvPr id="19" name="Flecha siguiente paso" descr="Siguiente paso">    </p:cNvPr>
          <p:cNvPicPr>
            <a:picLocks noChangeAspect="1"/>
          </p:cNvPicPr>
          <p:nvPr/>
        </p:nvPicPr>
        <p:blipFill>
          <a:blip r:embed="rId5"/>
          <a:stretch>
            <a:fillRect/>
          </a:stretch>
        </p:blipFill>
        <p:spPr>
          <a:xfrm>
            <a:off x="548640" y="5486400"/>
            <a:ext cx="292608" cy="292608"/>
          </a:xfrm>
          <a:prstGeom prst="rect">
            <a:avLst/>
          </a:prstGeom>
        </p:spPr>
      </p:pic>
      <p:sp>
        <p:nvSpPr>
          <p:cNvPr id="20" name="Siguiente paso"/>
          <p:cNvSpPr txBox="1"/>
          <p:nvPr/>
        </p:nvSpPr>
        <p:spPr>
          <a:xfrm>
            <a:off x="1005840" y="5358384"/>
            <a:ext cx="10637215" cy="548640"/>
          </a:xfrm>
          <a:prstGeom prst="rect">
            <a:avLst/>
          </a:prstGeom>
          <a:noFill/>
          <a:ln/>
        </p:spPr>
        <p:txBody>
          <a:bodyPr wrap="square" lIns="0" tIns="0" rIns="0" bIns="0" rtlCol="0" anchor="ctr"/>
          <a:lstStyle/>
          <a:p>
            <a:pPr indent="0" marL="0">
              <a:buNone/>
            </a:pPr>
            <a:r>
              <a:rPr lang="en-US" sz="1600" b="1" dirty="0">
                <a:solidFill>
                  <a:schemeClr val="accent4"/>
                </a:solidFill>
              </a:rPr>
              <a:t>Siguiente paso sugerido: </a:t>
            </a:r>
            <a:pPr indent="0" marL="0">
              <a:buNone/>
            </a:pPr>
            <a:r>
              <a:rPr lang="en-US" sz="1600" dirty="0">
                <a:solidFill>
                  <a:schemeClr val="bg1"/>
                </a:solidFill>
              </a:rPr>
              <a:t>reusar una malla base para los árboles de fondo y aligerar la escena.</a:t>
            </a:r>
            <a:endParaRPr lang="en-US" sz="16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Rincón de lectura">
  <a:themeElements>
    <a:clrScheme name="Rincón de lectura">
      <a:dk1>
        <a:srgbClr val="2B211B"/>
      </a:dk1>
      <a:lt1>
        <a:srgbClr val="FFFFFF"/>
      </a:lt1>
      <a:dk2>
        <a:srgbClr val="33261F"/>
      </a:dk2>
      <a:lt2>
        <a:srgbClr val="F6F2EE"/>
      </a:lt2>
      <a:accent1>
        <a:srgbClr val="C0742E"/>
      </a:accent1>
      <a:accent2>
        <a:srgbClr val="3E6BC2"/>
      </a:accent2>
      <a:accent3>
        <a:srgbClr val="4E8A3A"/>
      </a:accent3>
      <a:accent4>
        <a:srgbClr val="E3B04B"/>
      </a:accent4>
      <a:accent5>
        <a:srgbClr val="6F635B"/>
      </a:accent5>
      <a:accent6>
        <a:srgbClr val="BDB2A9"/>
      </a:accent6>
      <a:hlink>
        <a:srgbClr val="3E6BC2"/>
      </a:hlink>
      <a:folHlink>
        <a:srgbClr val="6F635B"/>
      </a:folHlink>
    </a:clrScheme>
    <a:fontScheme name="Rincón de lectur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Rincón de lectura fotorrealista — Resumen ejecutivo</dc:title>
  <dc:subject>Resumen ejecutivo del proyecto en Blender 5.2</dc:subject>
  <dc:creator>PptxGenJS</dc:creator>
  <cp:lastModifiedBy>PptxGenJS</cp:lastModifiedBy>
  <cp:revision>1</cp:revision>
  <dcterms:created xsi:type="dcterms:W3CDTF">2026-10-09T17:08:13Z</dcterms:created>
  <dcterms:modified xsi:type="dcterms:W3CDTF">2026-10-09T17:08:13Z</dcterms:modified>
</cp:coreProperties>
</file>